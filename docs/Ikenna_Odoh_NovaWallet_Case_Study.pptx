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0"/>
                </a:solidFill>
                <a:latin typeface="Calibri"/>
              </a:defRPr>
            </a:pPr>
            <a:r>
              <a:rPr sz="1200" b="0" i="0" u="none" strike="noStrike">
                <a:solidFill>
                  <a:srgbClr val="1B2430"/>
                </a:solidFill>
                <a:latin typeface="Calibri"/>
              </a:rPr>
              <a:t>200 parallel ₦100 transfers from a ₦1,000 wallet</a:t>
            </a:r>
          </a:p>
        </c:rich>
      </c:tx>
      <c:layout/>
      <c:overlay val="0"/>
    </c:title>
    <c:autoTitleDeleted val="0"/>
    <c:plotArea>
      <c:layout/>
      <c:barChart>
        <c:barDir val="col"/>
        <c:grouping val="clustered"/>
        <c:varyColors val="0"/>
        <c:ser>
          <c:idx val="0"/>
          <c:order val="0"/>
          <c:tx>
            <c:strRef>
              <c:f>Sheet1!$B$1</c:f>
              <c:strCache>
                <c:ptCount val="1"/>
                <c:pt idx="0">
                  <c:v>Succeeded (201)</c:v>
                </c:pt>
              </c:strCache>
            </c:strRef>
          </c:tx>
          <c:spPr>
            <a:solidFill>
              <a:srgbClr val="0B1F3A"/>
            </a:solidFill>
            <a:effectLst/>
          </c:spPr>
          <c:invertIfNegative val="0"/>
          <c:dLbls>
            <c:numFmt formatCode="#,##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cat>
            <c:multiLvlStrRef>
              <c:f>Sheet1!$A$2:$A$3</c:f>
              <c:multiLvlStrCache>
                <c:ptCount val="2"/>
                <c:lvl>
                  <c:pt idx="0">
                    <c:v>With row lock</c:v>
                  </c:pt>
                  <c:pt idx="1">
                    <c:v>FOR UPDATE removed</c:v>
                  </c:pt>
                </c:lvl>
              </c:multiLvlStrCache>
            </c:multiLvlStrRef>
          </c:cat>
          <c:val>
            <c:numRef>
              <c:f>Sheet1!$B$2:$B$3</c:f>
              <c:numCache>
                <c:formatCode>General</c:formatCode>
                <c:ptCount val="2"/>
                <c:pt idx="0">
                  <c:v>10</c:v>
                </c:pt>
                <c:pt idx="1">
                  <c:v>199</c:v>
                </c:pt>
              </c:numCache>
            </c:numRef>
          </c:val>
        </c:ser>
        <c:ser>
          <c:idx val="1"/>
          <c:order val="1"/>
          <c:tx>
            <c:strRef>
              <c:f>Sheet1!$C$1</c:f>
              <c:strCache>
                <c:ptCount val="1"/>
                <c:pt idx="0">
                  <c:v>Refused (422)</c:v>
                </c:pt>
              </c:strCache>
            </c:strRef>
          </c:tx>
          <c:spPr>
            <a:solidFill>
              <a:srgbClr val="D4A63A"/>
            </a:solidFill>
            <a:effectLst/>
          </c:spPr>
          <c:invertIfNegative val="0"/>
          <c:dLbls>
            <c:numFmt formatCode="#,##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cat>
            <c:multiLvlStrRef>
              <c:f>Sheet1!$A$2:$A$3</c:f>
              <c:multiLvlStrCache>
                <c:ptCount val="2"/>
                <c:lvl>
                  <c:pt idx="0">
                    <c:v>With row lock</c:v>
                  </c:pt>
                  <c:pt idx="1">
                    <c:v>FOR UPDATE removed</c:v>
                  </c:pt>
                </c:lvl>
              </c:multiLvlStrCache>
            </c:multiLvlStrRef>
          </c:cat>
          <c:val>
            <c:numRef>
              <c:f>Sheet1!$C$2:$C$3</c:f>
              <c:numCache>
                <c:formatCode>General</c:formatCode>
                <c:ptCount val="2"/>
                <c:pt idx="0">
                  <c:v>190</c:v>
                </c:pt>
                <c:pt idx="1">
                  <c:v>1</c:v>
                </c:pt>
              </c:numCache>
            </c:numRef>
          </c:val>
        </c:ser>
        <c:dLbls>
          <c:numFmt formatCode="#,##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5"/>
                </a:solidFill>
                <a:latin typeface="Arial"/>
              </a:defRPr>
            </a:pPr>
            <a:endParaRPr lang="en-US"/>
          </a:p>
        </c:txPr>
        <c:crossAx val="2094734552"/>
        <c:crosses val="autoZero"/>
        <c:auto val="1"/>
        <c:lblAlgn val="ctr"/>
        <c:noMultiLvlLbl val="1"/>
      </c:catAx>
      <c:valAx>
        <c:axId val="2094734552"/>
        <c:scaling>
          <c:orientation val="minMax"/>
          <c:max val="220"/>
        </c:scaling>
        <c:delete val="0"/>
        <c:axPos val="l"/>
        <c:majorGridlines>
          <c:spPr>
            <a:ln w="6350" cap="flat">
              <a:solidFill>
                <a:srgbClr val="E5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I'll walk you through the NovaWallet ledger I built for the take-home: what the brief demanded, how the design guarantees correctness under concurrency, the evidence that it works, where AI helped and where it was wrong, and the trade-offs I'd revisit. About ten minutes, then I'm happy to change code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has six functional capabilities, but the real test is the four hard constraints on the right. Of those, 'balance never negative under ANY interleaving' drove almost every design decision, followed by idempotency, because mobile and USSD clients on Nigerian networks retry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200 transfers fired at the same instant against a thousand-naira wallet — exactly ten succeed, every time, balance lands on zero, and the ledger agrees. 91 tests in total, 46 of them against real Postgres. All four stretch goals are in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projects. Domain has no dependencies — Money is a long of kobo with checked arithmetic. Application owns every business rule and talks to storage through one port, so the orchestration is unit-testable. Infrastructure has the locking SQL. The API is transport only. On the right: even if the application had a bug, the database refuses a negative balance or an edit to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it. Everything is one transaction at read committed. Step one claims the idempotency key. Step two takes row locks on both wallets — always the lower id first, so an A-to-B and a B-to-A can't deadlock. Only then do I read the balance and today's spend, so no other request can change them underneath me. Why pessimistic locks rather than optimistic versioning or SERIALIZABLE? Hot wallets under contention would just retry-storm, and a conditional UPDATE can't cover the daily-limit sum. Row locks are simple to reason about and to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customer on *894# whose session times out will retry. So the key is claimed inside the same transaction as the money movement — there is never a moment where money moved but the key isn't recorded, or vice versa. A concurrent duplicate blocks on the primary key and then reads the committed result. I also cache declines, Stripe-style, so the same key always means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 is derived from the ledger rather than a separate counter, and it's read while the sender is locked — so parallel transfers can't all squeeze under it. That's tested: 40 parallel twenty-thousand-naira transfers, exactly 25 pass. The audit trail is a separate table the database itself refuses to modify, and each wallet's records are hash-chained, so even someone who disables the trigger leaves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the token check is strict and pinned to one algorithm, and there is a test that an alg-none operator token is refused. Secrets come from the environment; startup fails on a short key. The mock issuer only exists behind a flag. For NDPA, the ledger stores no personal identifiers and never logs bodies. The USSD channel is exactly why idempotency matters, and tiered KYC limits would plug into the same limit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green test suite only means something if it goes red for the right reason. So I deleted FOR UPDATE and re-ran: 199 of 200 transfers 'succeeded' out of a thousand naira — classic lost updates — and four of five concurrency tests failed. Removing the lock ordering produced real Postgres deadlocks. Both were restored and the full suite is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Claude Code as the implementer and treated myself as the reviewer. Three real misses: an innocent-looking Produces attribute that broke the Problem Details contract; business declines being logged as server errors, which in a bank means alert fatigue; and tests asserting insufficient funds with amounts that actually tripped the daily limit. Also caught before they bit: EF returning a stale tracked wallet after a lock, and timestamp precision breaking the audit hash chain. All of it is written up in AI_USAGE.md.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choice has a cost: row locks serialise writes on a very hot wallet, cached declines mean a new key after a top-up, and migrate-on-startup is a demo convenience. Next I'd add KYC tier limits, reconciliation and key expiry, reversals as compensating entries, and production-grade eventing and identity. Happy to run it live — compose up, Swagger, and the smoke script — or modify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731520"/>
            <a:ext cx="822960" cy="822960"/>
          </a:xfrm>
          <a:prstGeom prst="ellipse">
            <a:avLst/>
          </a:prstGeom>
          <a:solidFill>
            <a:srgbClr val="D4A63A"/>
          </a:solidFill>
          <a:ln w="12700">
            <a:solidFill>
              <a:srgbClr val="D4A63A"/>
            </a:solidFill>
            <a:prstDash val="solid"/>
          </a:ln>
        </p:spPr>
      </p:sp>
      <p:pic>
        <p:nvPicPr>
          <p:cNvPr id="3" name="Image 0" descr="preencoded.png">    </p:cNvPr>
          <p:cNvPicPr>
            <a:picLocks noChangeAspect="1"/>
          </p:cNvPicPr>
          <p:nvPr/>
        </p:nvPicPr>
        <p:blipFill>
          <a:blip r:embed="rId1"/>
          <a:stretch>
            <a:fillRect/>
          </a:stretch>
        </p:blipFill>
        <p:spPr>
          <a:xfrm>
            <a:off x="854050" y="945490"/>
            <a:ext cx="395021" cy="395021"/>
          </a:xfrm>
          <a:prstGeom prst="rect">
            <a:avLst/>
          </a:prstGeom>
        </p:spPr>
      </p:pic>
      <p:sp>
        <p:nvSpPr>
          <p:cNvPr id="4" name="Text 1"/>
          <p:cNvSpPr txBox="1"/>
          <p:nvPr/>
        </p:nvSpPr>
        <p:spPr>
          <a:xfrm>
            <a:off x="640080" y="1783080"/>
            <a:ext cx="7772400" cy="274320"/>
          </a:xfrm>
          <a:prstGeom prst="rect">
            <a:avLst/>
          </a:prstGeom>
          <a:noFill/>
          <a:ln/>
        </p:spPr>
        <p:txBody>
          <a:bodyPr wrap="square" lIns="0" tIns="0" rIns="0" bIns="0" rtlCol="0" anchor="t"/>
          <a:lstStyle/>
          <a:p>
            <a:pPr indent="0" marL="0">
              <a:buNone/>
            </a:pPr>
            <a:r>
              <a:rPr lang="en-US" sz="1200" b="1" spc="200" kern="0" dirty="0">
                <a:solidFill>
                  <a:srgbClr val="D4A63A"/>
                </a:solidFill>
                <a:latin typeface="Calibri" pitchFamily="34" charset="0"/>
                <a:ea typeface="Calibri" pitchFamily="34" charset="-122"/>
                <a:cs typeface="Calibri" pitchFamily="34" charset="-120"/>
              </a:rPr>
              <a:t>CASE STUDY  ·  BACKEND ENGINEER (.NET / C#)</a:t>
            </a:r>
            <a:endParaRPr lang="en-US" sz="1200" dirty="0"/>
          </a:p>
        </p:txBody>
      </p:sp>
      <p:sp>
        <p:nvSpPr>
          <p:cNvPr id="5" name="Text 2"/>
          <p:cNvSpPr txBox="1"/>
          <p:nvPr/>
        </p:nvSpPr>
        <p:spPr>
          <a:xfrm>
            <a:off x="640080" y="2103120"/>
            <a:ext cx="786384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NovaWallet Ledger Service</a:t>
            </a:r>
            <a:endParaRPr lang="en-US" sz="4400" dirty="0"/>
          </a:p>
        </p:txBody>
      </p:sp>
      <p:sp>
        <p:nvSpPr>
          <p:cNvPr id="6" name="Text 3"/>
          <p:cNvSpPr txBox="1"/>
          <p:nvPr/>
        </p:nvSpPr>
        <p:spPr>
          <a:xfrm>
            <a:off x="640080" y="2971800"/>
            <a:ext cx="6949440" cy="640080"/>
          </a:xfrm>
          <a:prstGeom prst="rect">
            <a:avLst/>
          </a:prstGeom>
          <a:noFill/>
          <a:ln/>
        </p:spPr>
        <p:txBody>
          <a:bodyPr wrap="square" lIns="0" tIns="0" rIns="0" bIns="0" rtlCol="0" anchor="t"/>
          <a:lstStyle/>
          <a:p>
            <a:pPr indent="0" marL="0">
              <a:buNone/>
            </a:pPr>
            <a:r>
              <a:rPr lang="en-US" sz="1600" dirty="0">
                <a:solidFill>
                  <a:srgbClr val="C9D3E3"/>
                </a:solidFill>
                <a:latin typeface="Calibri" pitchFamily="34" charset="0"/>
                <a:ea typeface="Calibri" pitchFamily="34" charset="-122"/>
                <a:cs typeface="Calibri" pitchFamily="34" charset="-120"/>
              </a:rPr>
              <a:t>A wallet ledger that never loses, duplicates or miscounts a customer's naira — and can prove it under load.</a:t>
            </a:r>
            <a:endParaRPr lang="en-US" sz="1600" dirty="0"/>
          </a:p>
        </p:txBody>
      </p:sp>
      <p:sp>
        <p:nvSpPr>
          <p:cNvPr id="7" name="Text 4"/>
          <p:cNvSpPr txBox="1"/>
          <p:nvPr/>
        </p:nvSpPr>
        <p:spPr>
          <a:xfrm>
            <a:off x="640080" y="3977640"/>
            <a:ext cx="7315200" cy="5486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Ikenna Odoh</a:t>
            </a:r>
            <a:endParaRPr lang="en-US" sz="1300" dirty="0"/>
          </a:p>
          <a:p>
            <a:pPr indent="0" marL="0">
              <a:buNone/>
            </a:pPr>
            <a:r>
              <a:rPr lang="en-US" sz="1300" dirty="0">
                <a:solidFill>
                  <a:srgbClr val="9FB0C8"/>
                </a:solidFill>
                <a:latin typeface="Calibri" pitchFamily="34" charset="0"/>
                <a:ea typeface="Calibri" pitchFamily="34" charset="-122"/>
                <a:cs typeface="Calibri" pitchFamily="34" charset="-120"/>
              </a:rPr>
              <a:t>FirstBank Digital Factory  ·  IT-CIO Organization  ·  22 September 2026</a:t>
            </a:r>
            <a:endParaRPr lang="en-US" sz="1300" dirty="0"/>
          </a:p>
        </p:txBody>
      </p:sp>
      <p:sp>
        <p:nvSpPr>
          <p:cNvPr id="8" name="Text 5"/>
          <p:cNvSpPr txBox="1"/>
          <p:nvPr/>
        </p:nvSpPr>
        <p:spPr>
          <a:xfrm>
            <a:off x="5303520" y="868680"/>
            <a:ext cx="3291840" cy="274320"/>
          </a:xfrm>
          <a:prstGeom prst="rect">
            <a:avLst/>
          </a:prstGeom>
          <a:noFill/>
          <a:ln/>
        </p:spPr>
        <p:txBody>
          <a:bodyPr wrap="square" lIns="0" tIns="0" rIns="0" bIns="0" rtlCol="0" anchor="t"/>
          <a:lstStyle/>
          <a:p>
            <a:pPr algn="r" indent="0" marL="0">
              <a:buNone/>
            </a:pPr>
            <a:r>
              <a:rPr lang="en-US" sz="1100" dirty="0">
                <a:solidFill>
                  <a:srgbClr val="9FB0C8"/>
                </a:solidFill>
                <a:latin typeface="Calibri" pitchFamily="34" charset="0"/>
                <a:ea typeface="Calibri" pitchFamily="34" charset="-122"/>
                <a:cs typeface="Calibri" pitchFamily="34" charset="-120"/>
              </a:rPr>
              <a:t>.NET 8  ·  PostgreSQL 16  ·  Docker Compose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THE BRIEF</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Six capabilities, four hard constraints</a:t>
            </a:r>
            <a:endParaRPr lang="en-US" sz="2400" dirty="0"/>
          </a:p>
        </p:txBody>
      </p:sp>
      <p:sp>
        <p:nvSpPr>
          <p:cNvPr id="4" name="Shape 2"/>
          <p:cNvSpPr/>
          <p:nvPr/>
        </p:nvSpPr>
        <p:spPr>
          <a:xfrm>
            <a:off x="457200" y="1325880"/>
            <a:ext cx="2331720" cy="914400"/>
          </a:xfrm>
          <a:prstGeom prst="roundRect">
            <a:avLst>
              <a:gd name="adj" fmla="val 8000"/>
            </a:avLst>
          </a:prstGeom>
          <a:solidFill>
            <a:srgbClr val="F3F5F9"/>
          </a:solidFill>
          <a:ln w="12700">
            <a:solidFill>
              <a:srgbClr val="F3F5F9"/>
            </a:solidFill>
            <a:prstDash val="solid"/>
          </a:ln>
        </p:spPr>
      </p:sp>
      <p:sp>
        <p:nvSpPr>
          <p:cNvPr id="5" name="Shape 3"/>
          <p:cNvSpPr/>
          <p:nvPr/>
        </p:nvSpPr>
        <p:spPr>
          <a:xfrm>
            <a:off x="594360" y="1527048"/>
            <a:ext cx="512064" cy="512064"/>
          </a:xfrm>
          <a:prstGeom prst="ellipse">
            <a:avLst/>
          </a:prstGeom>
          <a:solidFill>
            <a:srgbClr val="0B1F3A"/>
          </a:solidFill>
          <a:ln w="12700">
            <a:solidFill>
              <a:srgbClr val="0B1F3A"/>
            </a:solidFill>
            <a:prstDash val="solid"/>
          </a:ln>
        </p:spPr>
      </p:sp>
      <p:pic>
        <p:nvPicPr>
          <p:cNvPr id="6" name="Image 0" descr="preencoded.png">    </p:cNvPr>
          <p:cNvPicPr>
            <a:picLocks noChangeAspect="1"/>
          </p:cNvPicPr>
          <p:nvPr/>
        </p:nvPicPr>
        <p:blipFill>
          <a:blip r:embed="rId1"/>
          <a:stretch>
            <a:fillRect/>
          </a:stretch>
        </p:blipFill>
        <p:spPr>
          <a:xfrm>
            <a:off x="727497" y="1660185"/>
            <a:ext cx="245791" cy="245791"/>
          </a:xfrm>
          <a:prstGeom prst="rect">
            <a:avLst/>
          </a:prstGeom>
        </p:spPr>
      </p:pic>
      <p:sp>
        <p:nvSpPr>
          <p:cNvPr id="7" name="Text 4"/>
          <p:cNvSpPr txBox="1"/>
          <p:nvPr/>
        </p:nvSpPr>
        <p:spPr>
          <a:xfrm>
            <a:off x="1234440" y="1490472"/>
            <a:ext cx="146304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Create wallet</a:t>
            </a:r>
            <a:endParaRPr lang="en-US" sz="1300" dirty="0"/>
          </a:p>
        </p:txBody>
      </p:sp>
      <p:sp>
        <p:nvSpPr>
          <p:cNvPr id="8" name="Text 5"/>
          <p:cNvSpPr txBox="1"/>
          <p:nvPr/>
        </p:nvSpPr>
        <p:spPr>
          <a:xfrm>
            <a:off x="1234440" y="1764792"/>
            <a:ext cx="1481328" cy="41148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per customer, starts at ₦0</a:t>
            </a:r>
            <a:endParaRPr lang="en-US" sz="1050" dirty="0"/>
          </a:p>
        </p:txBody>
      </p:sp>
      <p:sp>
        <p:nvSpPr>
          <p:cNvPr id="9" name="Shape 6"/>
          <p:cNvSpPr/>
          <p:nvPr/>
        </p:nvSpPr>
        <p:spPr>
          <a:xfrm>
            <a:off x="2971800" y="1325880"/>
            <a:ext cx="2331720" cy="914400"/>
          </a:xfrm>
          <a:prstGeom prst="roundRect">
            <a:avLst>
              <a:gd name="adj" fmla="val 8000"/>
            </a:avLst>
          </a:prstGeom>
          <a:solidFill>
            <a:srgbClr val="F3F5F9"/>
          </a:solidFill>
          <a:ln w="12700">
            <a:solidFill>
              <a:srgbClr val="F3F5F9"/>
            </a:solidFill>
            <a:prstDash val="solid"/>
          </a:ln>
        </p:spPr>
      </p:sp>
      <p:sp>
        <p:nvSpPr>
          <p:cNvPr id="10" name="Shape 7"/>
          <p:cNvSpPr/>
          <p:nvPr/>
        </p:nvSpPr>
        <p:spPr>
          <a:xfrm>
            <a:off x="3108960" y="1527048"/>
            <a:ext cx="512064" cy="512064"/>
          </a:xfrm>
          <a:prstGeom prst="ellipse">
            <a:avLst/>
          </a:prstGeom>
          <a:solidFill>
            <a:srgbClr val="0B1F3A"/>
          </a:solidFill>
          <a:ln w="12700">
            <a:solidFill>
              <a:srgbClr val="0B1F3A"/>
            </a:solidFill>
            <a:prstDash val="solid"/>
          </a:ln>
        </p:spPr>
      </p:sp>
      <p:pic>
        <p:nvPicPr>
          <p:cNvPr id="11" name="Image 1" descr="preencoded.png">    </p:cNvPr>
          <p:cNvPicPr>
            <a:picLocks noChangeAspect="1"/>
          </p:cNvPicPr>
          <p:nvPr/>
        </p:nvPicPr>
        <p:blipFill>
          <a:blip r:embed="rId2"/>
          <a:stretch>
            <a:fillRect/>
          </a:stretch>
        </p:blipFill>
        <p:spPr>
          <a:xfrm>
            <a:off x="3242097" y="1660185"/>
            <a:ext cx="245791" cy="245791"/>
          </a:xfrm>
          <a:prstGeom prst="rect">
            <a:avLst/>
          </a:prstGeom>
        </p:spPr>
      </p:pic>
      <p:sp>
        <p:nvSpPr>
          <p:cNvPr id="12" name="Text 8"/>
          <p:cNvSpPr txBox="1"/>
          <p:nvPr/>
        </p:nvSpPr>
        <p:spPr>
          <a:xfrm>
            <a:off x="3749040" y="1490472"/>
            <a:ext cx="146304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Balance &amp; credit</a:t>
            </a:r>
            <a:endParaRPr lang="en-US" sz="1300" dirty="0"/>
          </a:p>
        </p:txBody>
      </p:sp>
      <p:sp>
        <p:nvSpPr>
          <p:cNvPr id="13" name="Text 9"/>
          <p:cNvSpPr txBox="1"/>
          <p:nvPr/>
        </p:nvSpPr>
        <p:spPr>
          <a:xfrm>
            <a:off x="3749040" y="1764792"/>
            <a:ext cx="1481328" cy="41148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kobo, NGN; simulated inbound NIP</a:t>
            </a:r>
            <a:endParaRPr lang="en-US" sz="1050" dirty="0"/>
          </a:p>
        </p:txBody>
      </p:sp>
      <p:sp>
        <p:nvSpPr>
          <p:cNvPr id="14" name="Shape 10"/>
          <p:cNvSpPr/>
          <p:nvPr/>
        </p:nvSpPr>
        <p:spPr>
          <a:xfrm>
            <a:off x="457200" y="2423160"/>
            <a:ext cx="2331720" cy="914400"/>
          </a:xfrm>
          <a:prstGeom prst="roundRect">
            <a:avLst>
              <a:gd name="adj" fmla="val 8000"/>
            </a:avLst>
          </a:prstGeom>
          <a:solidFill>
            <a:srgbClr val="F3F5F9"/>
          </a:solidFill>
          <a:ln w="12700">
            <a:solidFill>
              <a:srgbClr val="F3F5F9"/>
            </a:solidFill>
            <a:prstDash val="solid"/>
          </a:ln>
        </p:spPr>
      </p:sp>
      <p:sp>
        <p:nvSpPr>
          <p:cNvPr id="15" name="Shape 11"/>
          <p:cNvSpPr/>
          <p:nvPr/>
        </p:nvSpPr>
        <p:spPr>
          <a:xfrm>
            <a:off x="594360" y="2624328"/>
            <a:ext cx="512064" cy="512064"/>
          </a:xfrm>
          <a:prstGeom prst="ellipse">
            <a:avLst/>
          </a:prstGeom>
          <a:solidFill>
            <a:srgbClr val="0B1F3A"/>
          </a:solidFill>
          <a:ln w="12700">
            <a:solidFill>
              <a:srgbClr val="0B1F3A"/>
            </a:solidFill>
            <a:prstDash val="solid"/>
          </a:ln>
        </p:spPr>
      </p:sp>
      <p:pic>
        <p:nvPicPr>
          <p:cNvPr id="16" name="Image 2" descr="preencoded.png">    </p:cNvPr>
          <p:cNvPicPr>
            <a:picLocks noChangeAspect="1"/>
          </p:cNvPicPr>
          <p:nvPr/>
        </p:nvPicPr>
        <p:blipFill>
          <a:blip r:embed="rId3"/>
          <a:stretch>
            <a:fillRect/>
          </a:stretch>
        </p:blipFill>
        <p:spPr>
          <a:xfrm>
            <a:off x="727497" y="2757465"/>
            <a:ext cx="245791" cy="245791"/>
          </a:xfrm>
          <a:prstGeom prst="rect">
            <a:avLst/>
          </a:prstGeom>
        </p:spPr>
      </p:pic>
      <p:sp>
        <p:nvSpPr>
          <p:cNvPr id="17" name="Text 12"/>
          <p:cNvSpPr txBox="1"/>
          <p:nvPr/>
        </p:nvSpPr>
        <p:spPr>
          <a:xfrm>
            <a:off x="1234440" y="2587752"/>
            <a:ext cx="146304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Atomic transfer</a:t>
            </a:r>
            <a:endParaRPr lang="en-US" sz="1300" dirty="0"/>
          </a:p>
        </p:txBody>
      </p:sp>
      <p:sp>
        <p:nvSpPr>
          <p:cNvPr id="18" name="Text 13"/>
          <p:cNvSpPr txBox="1"/>
          <p:nvPr/>
        </p:nvSpPr>
        <p:spPr>
          <a:xfrm>
            <a:off x="1234440" y="2862072"/>
            <a:ext cx="1481328" cy="41148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concurrency-safe</a:t>
            </a:r>
            <a:endParaRPr lang="en-US" sz="1050" dirty="0"/>
          </a:p>
        </p:txBody>
      </p:sp>
      <p:sp>
        <p:nvSpPr>
          <p:cNvPr id="19" name="Shape 14"/>
          <p:cNvSpPr/>
          <p:nvPr/>
        </p:nvSpPr>
        <p:spPr>
          <a:xfrm>
            <a:off x="2971800" y="2423160"/>
            <a:ext cx="2331720" cy="914400"/>
          </a:xfrm>
          <a:prstGeom prst="roundRect">
            <a:avLst>
              <a:gd name="adj" fmla="val 8000"/>
            </a:avLst>
          </a:prstGeom>
          <a:solidFill>
            <a:srgbClr val="F3F5F9"/>
          </a:solidFill>
          <a:ln w="12700">
            <a:solidFill>
              <a:srgbClr val="F3F5F9"/>
            </a:solidFill>
            <a:prstDash val="solid"/>
          </a:ln>
        </p:spPr>
      </p:sp>
      <p:sp>
        <p:nvSpPr>
          <p:cNvPr id="20" name="Shape 15"/>
          <p:cNvSpPr/>
          <p:nvPr/>
        </p:nvSpPr>
        <p:spPr>
          <a:xfrm>
            <a:off x="3108960" y="2624328"/>
            <a:ext cx="512064" cy="512064"/>
          </a:xfrm>
          <a:prstGeom prst="ellipse">
            <a:avLst/>
          </a:prstGeom>
          <a:solidFill>
            <a:srgbClr val="0B1F3A"/>
          </a:solidFill>
          <a:ln w="12700">
            <a:solidFill>
              <a:srgbClr val="0B1F3A"/>
            </a:solidFill>
            <a:prstDash val="solid"/>
          </a:ln>
        </p:spPr>
      </p:sp>
      <p:pic>
        <p:nvPicPr>
          <p:cNvPr id="21" name="Image 3" descr="preencoded.png">    </p:cNvPr>
          <p:cNvPicPr>
            <a:picLocks noChangeAspect="1"/>
          </p:cNvPicPr>
          <p:nvPr/>
        </p:nvPicPr>
        <p:blipFill>
          <a:blip r:embed="rId4"/>
          <a:stretch>
            <a:fillRect/>
          </a:stretch>
        </p:blipFill>
        <p:spPr>
          <a:xfrm>
            <a:off x="3242097" y="2757465"/>
            <a:ext cx="245791" cy="245791"/>
          </a:xfrm>
          <a:prstGeom prst="rect">
            <a:avLst/>
          </a:prstGeom>
        </p:spPr>
      </p:pic>
      <p:sp>
        <p:nvSpPr>
          <p:cNvPr id="22" name="Text 16"/>
          <p:cNvSpPr txBox="1"/>
          <p:nvPr/>
        </p:nvSpPr>
        <p:spPr>
          <a:xfrm>
            <a:off x="3749040" y="2587752"/>
            <a:ext cx="146304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Idempotency-Key</a:t>
            </a:r>
            <a:endParaRPr lang="en-US" sz="1300" dirty="0"/>
          </a:p>
        </p:txBody>
      </p:sp>
      <p:sp>
        <p:nvSpPr>
          <p:cNvPr id="23" name="Text 17"/>
          <p:cNvSpPr txBox="1"/>
          <p:nvPr/>
        </p:nvSpPr>
        <p:spPr>
          <a:xfrm>
            <a:off x="3749040" y="2862072"/>
            <a:ext cx="1481328" cy="41148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replay ≠ double-process</a:t>
            </a:r>
            <a:endParaRPr lang="en-US" sz="1050" dirty="0"/>
          </a:p>
        </p:txBody>
      </p:sp>
      <p:sp>
        <p:nvSpPr>
          <p:cNvPr id="24" name="Shape 18"/>
          <p:cNvSpPr/>
          <p:nvPr/>
        </p:nvSpPr>
        <p:spPr>
          <a:xfrm>
            <a:off x="457200" y="3520440"/>
            <a:ext cx="2331720" cy="914400"/>
          </a:xfrm>
          <a:prstGeom prst="roundRect">
            <a:avLst>
              <a:gd name="adj" fmla="val 8000"/>
            </a:avLst>
          </a:prstGeom>
          <a:solidFill>
            <a:srgbClr val="F3F5F9"/>
          </a:solidFill>
          <a:ln w="12700">
            <a:solidFill>
              <a:srgbClr val="F3F5F9"/>
            </a:solidFill>
            <a:prstDash val="solid"/>
          </a:ln>
        </p:spPr>
      </p:sp>
      <p:sp>
        <p:nvSpPr>
          <p:cNvPr id="25" name="Shape 19"/>
          <p:cNvSpPr/>
          <p:nvPr/>
        </p:nvSpPr>
        <p:spPr>
          <a:xfrm>
            <a:off x="594360" y="3721608"/>
            <a:ext cx="512064" cy="512064"/>
          </a:xfrm>
          <a:prstGeom prst="ellipse">
            <a:avLst/>
          </a:prstGeom>
          <a:solidFill>
            <a:srgbClr val="0B1F3A"/>
          </a:solidFill>
          <a:ln w="12700">
            <a:solidFill>
              <a:srgbClr val="0B1F3A"/>
            </a:solidFill>
            <a:prstDash val="solid"/>
          </a:ln>
        </p:spPr>
      </p:sp>
      <p:pic>
        <p:nvPicPr>
          <p:cNvPr id="26" name="Image 4" descr="preencoded.png">    </p:cNvPr>
          <p:cNvPicPr>
            <a:picLocks noChangeAspect="1"/>
          </p:cNvPicPr>
          <p:nvPr/>
        </p:nvPicPr>
        <p:blipFill>
          <a:blip r:embed="rId5"/>
          <a:stretch>
            <a:fillRect/>
          </a:stretch>
        </p:blipFill>
        <p:spPr>
          <a:xfrm>
            <a:off x="727497" y="3854745"/>
            <a:ext cx="245791" cy="245791"/>
          </a:xfrm>
          <a:prstGeom prst="rect">
            <a:avLst/>
          </a:prstGeom>
        </p:spPr>
      </p:pic>
      <p:sp>
        <p:nvSpPr>
          <p:cNvPr id="27" name="Text 20"/>
          <p:cNvSpPr txBox="1"/>
          <p:nvPr/>
        </p:nvSpPr>
        <p:spPr>
          <a:xfrm>
            <a:off x="1234440" y="3685032"/>
            <a:ext cx="146304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Statement</a:t>
            </a:r>
            <a:endParaRPr lang="en-US" sz="1300" dirty="0"/>
          </a:p>
        </p:txBody>
      </p:sp>
      <p:sp>
        <p:nvSpPr>
          <p:cNvPr id="28" name="Text 21"/>
          <p:cNvSpPr txBox="1"/>
          <p:nvPr/>
        </p:nvSpPr>
        <p:spPr>
          <a:xfrm>
            <a:off x="1234440" y="3959352"/>
            <a:ext cx="1481328" cy="41148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paginated, newest first</a:t>
            </a:r>
            <a:endParaRPr lang="en-US" sz="1050" dirty="0"/>
          </a:p>
        </p:txBody>
      </p:sp>
      <p:sp>
        <p:nvSpPr>
          <p:cNvPr id="29" name="Shape 22"/>
          <p:cNvSpPr/>
          <p:nvPr/>
        </p:nvSpPr>
        <p:spPr>
          <a:xfrm>
            <a:off x="2971800" y="3520440"/>
            <a:ext cx="2331720" cy="914400"/>
          </a:xfrm>
          <a:prstGeom prst="roundRect">
            <a:avLst>
              <a:gd name="adj" fmla="val 8000"/>
            </a:avLst>
          </a:prstGeom>
          <a:solidFill>
            <a:srgbClr val="F3F5F9"/>
          </a:solidFill>
          <a:ln w="12700">
            <a:solidFill>
              <a:srgbClr val="F3F5F9"/>
            </a:solidFill>
            <a:prstDash val="solid"/>
          </a:ln>
        </p:spPr>
      </p:sp>
      <p:sp>
        <p:nvSpPr>
          <p:cNvPr id="30" name="Shape 23"/>
          <p:cNvSpPr/>
          <p:nvPr/>
        </p:nvSpPr>
        <p:spPr>
          <a:xfrm>
            <a:off x="3108960" y="3721608"/>
            <a:ext cx="512064" cy="512064"/>
          </a:xfrm>
          <a:prstGeom prst="ellipse">
            <a:avLst/>
          </a:prstGeom>
          <a:solidFill>
            <a:srgbClr val="0B1F3A"/>
          </a:solidFill>
          <a:ln w="12700">
            <a:solidFill>
              <a:srgbClr val="0B1F3A"/>
            </a:solidFill>
            <a:prstDash val="solid"/>
          </a:ln>
        </p:spPr>
      </p:sp>
      <p:pic>
        <p:nvPicPr>
          <p:cNvPr id="31" name="Image 5" descr="preencoded.png">    </p:cNvPr>
          <p:cNvPicPr>
            <a:picLocks noChangeAspect="1"/>
          </p:cNvPicPr>
          <p:nvPr/>
        </p:nvPicPr>
        <p:blipFill>
          <a:blip r:embed="rId6"/>
          <a:stretch>
            <a:fillRect/>
          </a:stretch>
        </p:blipFill>
        <p:spPr>
          <a:xfrm>
            <a:off x="3242097" y="3854745"/>
            <a:ext cx="245791" cy="245791"/>
          </a:xfrm>
          <a:prstGeom prst="rect">
            <a:avLst/>
          </a:prstGeom>
        </p:spPr>
      </p:pic>
      <p:sp>
        <p:nvSpPr>
          <p:cNvPr id="32" name="Text 24"/>
          <p:cNvSpPr txBox="1"/>
          <p:nvPr/>
        </p:nvSpPr>
        <p:spPr>
          <a:xfrm>
            <a:off x="3749040" y="3685032"/>
            <a:ext cx="146304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Limit + audit</a:t>
            </a:r>
            <a:endParaRPr lang="en-US" sz="1300" dirty="0"/>
          </a:p>
        </p:txBody>
      </p:sp>
      <p:sp>
        <p:nvSpPr>
          <p:cNvPr id="33" name="Text 25"/>
          <p:cNvSpPr txBox="1"/>
          <p:nvPr/>
        </p:nvSpPr>
        <p:spPr>
          <a:xfrm>
            <a:off x="3749040" y="3959352"/>
            <a:ext cx="1481328" cy="41148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₦500k/day, WAT midnight; append-only</a:t>
            </a:r>
            <a:endParaRPr lang="en-US" sz="1050" dirty="0"/>
          </a:p>
        </p:txBody>
      </p:sp>
      <p:sp>
        <p:nvSpPr>
          <p:cNvPr id="34" name="Shape 26"/>
          <p:cNvSpPr/>
          <p:nvPr/>
        </p:nvSpPr>
        <p:spPr>
          <a:xfrm>
            <a:off x="5669280" y="1325880"/>
            <a:ext cx="3017520" cy="3108960"/>
          </a:xfrm>
          <a:prstGeom prst="roundRect">
            <a:avLst>
              <a:gd name="adj" fmla="val 2424"/>
            </a:avLst>
          </a:prstGeom>
          <a:solidFill>
            <a:srgbClr val="0B1F3A"/>
          </a:solidFill>
          <a:ln w="12700">
            <a:solidFill>
              <a:srgbClr val="0B1F3A"/>
            </a:solidFill>
            <a:prstDash val="solid"/>
          </a:ln>
        </p:spPr>
      </p:sp>
      <p:sp>
        <p:nvSpPr>
          <p:cNvPr id="35" name="Text 27"/>
          <p:cNvSpPr txBox="1"/>
          <p:nvPr/>
        </p:nvSpPr>
        <p:spPr>
          <a:xfrm>
            <a:off x="5897880" y="1481328"/>
            <a:ext cx="265176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NON-NEGOTIABLE</a:t>
            </a:r>
            <a:endParaRPr lang="en-US" sz="1000" dirty="0"/>
          </a:p>
        </p:txBody>
      </p:sp>
      <p:pic>
        <p:nvPicPr>
          <p:cNvPr id="36" name="Image 6" descr="preencoded.png">    </p:cNvPr>
          <p:cNvPicPr>
            <a:picLocks noChangeAspect="1"/>
          </p:cNvPicPr>
          <p:nvPr/>
        </p:nvPicPr>
        <p:blipFill>
          <a:blip r:embed="rId7"/>
          <a:stretch>
            <a:fillRect/>
          </a:stretch>
        </p:blipFill>
        <p:spPr>
          <a:xfrm>
            <a:off x="5897880" y="1856232"/>
            <a:ext cx="219456" cy="219456"/>
          </a:xfrm>
          <a:prstGeom prst="rect">
            <a:avLst/>
          </a:prstGeom>
        </p:spPr>
      </p:pic>
      <p:sp>
        <p:nvSpPr>
          <p:cNvPr id="37" name="Text 28"/>
          <p:cNvSpPr txBox="1"/>
          <p:nvPr/>
        </p:nvSpPr>
        <p:spPr>
          <a:xfrm>
            <a:off x="6236208" y="1828800"/>
            <a:ext cx="228600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Integers in kobo — no float/double in the money path</a:t>
            </a:r>
            <a:endParaRPr lang="en-US" sz="1250" dirty="0"/>
          </a:p>
        </p:txBody>
      </p:sp>
      <p:pic>
        <p:nvPicPr>
          <p:cNvPr id="38" name="Image 7" descr="preencoded.png">    </p:cNvPr>
          <p:cNvPicPr>
            <a:picLocks noChangeAspect="1"/>
          </p:cNvPicPr>
          <p:nvPr/>
        </p:nvPicPr>
        <p:blipFill>
          <a:blip r:embed="rId8"/>
          <a:stretch>
            <a:fillRect/>
          </a:stretch>
        </p:blipFill>
        <p:spPr>
          <a:xfrm>
            <a:off x="5897880" y="2496312"/>
            <a:ext cx="219456" cy="219456"/>
          </a:xfrm>
          <a:prstGeom prst="rect">
            <a:avLst/>
          </a:prstGeom>
        </p:spPr>
      </p:pic>
      <p:sp>
        <p:nvSpPr>
          <p:cNvPr id="39" name="Text 29"/>
          <p:cNvSpPr txBox="1"/>
          <p:nvPr/>
        </p:nvSpPr>
        <p:spPr>
          <a:xfrm>
            <a:off x="6236208" y="2468880"/>
            <a:ext cx="228600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Balance never negative under any interleaving</a:t>
            </a:r>
            <a:endParaRPr lang="en-US" sz="1250" dirty="0"/>
          </a:p>
        </p:txBody>
      </p:sp>
      <p:pic>
        <p:nvPicPr>
          <p:cNvPr id="40" name="Image 8" descr="preencoded.png">    </p:cNvPr>
          <p:cNvPicPr>
            <a:picLocks noChangeAspect="1"/>
          </p:cNvPicPr>
          <p:nvPr/>
        </p:nvPicPr>
        <p:blipFill>
          <a:blip r:embed="rId9"/>
          <a:stretch>
            <a:fillRect/>
          </a:stretch>
        </p:blipFill>
        <p:spPr>
          <a:xfrm>
            <a:off x="5897880" y="3136392"/>
            <a:ext cx="219456" cy="219456"/>
          </a:xfrm>
          <a:prstGeom prst="rect">
            <a:avLst/>
          </a:prstGeom>
        </p:spPr>
      </p:pic>
      <p:sp>
        <p:nvSpPr>
          <p:cNvPr id="41" name="Text 30"/>
          <p:cNvSpPr txBox="1"/>
          <p:nvPr/>
        </p:nvSpPr>
        <p:spPr>
          <a:xfrm>
            <a:off x="6236208" y="3108960"/>
            <a:ext cx="228600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JWT bearer auth + RFC 7807 errors</a:t>
            </a:r>
            <a:endParaRPr lang="en-US" sz="1250" dirty="0"/>
          </a:p>
        </p:txBody>
      </p:sp>
      <p:pic>
        <p:nvPicPr>
          <p:cNvPr id="42" name="Image 9" descr="preencoded.png">    </p:cNvPr>
          <p:cNvPicPr>
            <a:picLocks noChangeAspect="1"/>
          </p:cNvPicPr>
          <p:nvPr/>
        </p:nvPicPr>
        <p:blipFill>
          <a:blip r:embed="rId10"/>
          <a:stretch>
            <a:fillRect/>
          </a:stretch>
        </p:blipFill>
        <p:spPr>
          <a:xfrm>
            <a:off x="5897880" y="3776472"/>
            <a:ext cx="219456" cy="219456"/>
          </a:xfrm>
          <a:prstGeom prst="rect">
            <a:avLst/>
          </a:prstGeom>
        </p:spPr>
      </p:pic>
      <p:sp>
        <p:nvSpPr>
          <p:cNvPr id="43" name="Text 31"/>
          <p:cNvSpPr txBox="1"/>
          <p:nvPr/>
        </p:nvSpPr>
        <p:spPr>
          <a:xfrm>
            <a:off x="6236208" y="3749040"/>
            <a:ext cx="228600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docker compose up — the panel runs it</a:t>
            </a:r>
            <a:endParaRPr lang="en-US" sz="1250" dirty="0"/>
          </a:p>
        </p:txBody>
      </p:sp>
      <p:sp>
        <p:nvSpPr>
          <p:cNvPr id="44" name="Text 32"/>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45" name="Text 33"/>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OUTCOME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What was delivered — and verified</a:t>
            </a:r>
            <a:endParaRPr lang="en-US" sz="2400" dirty="0"/>
          </a:p>
        </p:txBody>
      </p:sp>
      <p:sp>
        <p:nvSpPr>
          <p:cNvPr id="4" name="Shape 2"/>
          <p:cNvSpPr/>
          <p:nvPr/>
        </p:nvSpPr>
        <p:spPr>
          <a:xfrm>
            <a:off x="457200" y="1371600"/>
            <a:ext cx="1920240" cy="2057400"/>
          </a:xfrm>
          <a:prstGeom prst="roundRect">
            <a:avLst>
              <a:gd name="adj" fmla="val 3810"/>
            </a:avLst>
          </a:prstGeom>
          <a:solidFill>
            <a:srgbClr val="F3F5F9"/>
          </a:solidFill>
          <a:ln w="12700">
            <a:solidFill>
              <a:srgbClr val="F3F5F9"/>
            </a:solidFill>
            <a:prstDash val="solid"/>
          </a:ln>
          <a:effectLst>
            <a:outerShdw sx="100000" sy="100000" kx="0" ky="0" algn="bl" rotWithShape="0" blurRad="76200" dist="19050" dir="5400000">
              <a:srgbClr val="000000">
                <a:alpha val="12000"/>
              </a:srgbClr>
            </a:outerShdw>
          </a:effectLst>
        </p:spPr>
      </p:sp>
      <p:sp>
        <p:nvSpPr>
          <p:cNvPr id="5" name="Text 3"/>
          <p:cNvSpPr txBox="1"/>
          <p:nvPr/>
        </p:nvSpPr>
        <p:spPr>
          <a:xfrm>
            <a:off x="594360" y="1554480"/>
            <a:ext cx="164592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200 → 10</a:t>
            </a:r>
            <a:endParaRPr lang="en-US" sz="3000" dirty="0"/>
          </a:p>
        </p:txBody>
      </p:sp>
      <p:sp>
        <p:nvSpPr>
          <p:cNvPr id="6" name="Text 4"/>
          <p:cNvSpPr txBox="1"/>
          <p:nvPr/>
        </p:nvSpPr>
        <p:spPr>
          <a:xfrm>
            <a:off x="594360" y="2377440"/>
            <a:ext cx="1645920" cy="96012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parallel ₦100 transfers from a ₦1,000 wallet: exactly 10 succeed, 190 refused</a:t>
            </a:r>
            <a:endParaRPr lang="en-US" sz="1150" dirty="0"/>
          </a:p>
        </p:txBody>
      </p:sp>
      <p:sp>
        <p:nvSpPr>
          <p:cNvPr id="7" name="Shape 5"/>
          <p:cNvSpPr/>
          <p:nvPr/>
        </p:nvSpPr>
        <p:spPr>
          <a:xfrm>
            <a:off x="2560320" y="1371600"/>
            <a:ext cx="1920240" cy="2057400"/>
          </a:xfrm>
          <a:prstGeom prst="roundRect">
            <a:avLst>
              <a:gd name="adj" fmla="val 3810"/>
            </a:avLst>
          </a:prstGeom>
          <a:solidFill>
            <a:srgbClr val="F3F5F9"/>
          </a:solidFill>
          <a:ln w="12700">
            <a:solidFill>
              <a:srgbClr val="F3F5F9"/>
            </a:solidFill>
            <a:prstDash val="solid"/>
          </a:ln>
          <a:effectLst>
            <a:outerShdw sx="100000" sy="100000" kx="0" ky="0" algn="bl" rotWithShape="0" blurRad="76200" dist="19050" dir="5400000">
              <a:srgbClr val="000000">
                <a:alpha val="12000"/>
              </a:srgbClr>
            </a:outerShdw>
          </a:effectLst>
        </p:spPr>
      </p:sp>
      <p:sp>
        <p:nvSpPr>
          <p:cNvPr id="8" name="Text 6"/>
          <p:cNvSpPr txBox="1"/>
          <p:nvPr/>
        </p:nvSpPr>
        <p:spPr>
          <a:xfrm>
            <a:off x="2697480" y="1554480"/>
            <a:ext cx="1645920" cy="731520"/>
          </a:xfrm>
          <a:prstGeom prst="rect">
            <a:avLst/>
          </a:prstGeom>
          <a:noFill/>
          <a:ln/>
        </p:spPr>
        <p:txBody>
          <a:bodyPr wrap="square" lIns="0" tIns="0" rIns="0" bIns="0" rtlCol="0" anchor="ctr"/>
          <a:lstStyle/>
          <a:p>
            <a:pPr indent="0" marL="0">
              <a:buNone/>
            </a:pPr>
            <a:r>
              <a:rPr lang="en-US" sz="4000" b="1" dirty="0">
                <a:solidFill>
                  <a:srgbClr val="0B1F3A"/>
                </a:solidFill>
                <a:latin typeface="Cambria" pitchFamily="34" charset="0"/>
                <a:ea typeface="Cambria" pitchFamily="34" charset="-122"/>
                <a:cs typeface="Cambria" pitchFamily="34" charset="-120"/>
              </a:rPr>
              <a:t>91</a:t>
            </a:r>
            <a:endParaRPr lang="en-US" sz="4000" dirty="0"/>
          </a:p>
        </p:txBody>
      </p:sp>
      <p:sp>
        <p:nvSpPr>
          <p:cNvPr id="9" name="Text 7"/>
          <p:cNvSpPr txBox="1"/>
          <p:nvPr/>
        </p:nvSpPr>
        <p:spPr>
          <a:xfrm>
            <a:off x="2697480" y="2377440"/>
            <a:ext cx="1645920" cy="96012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automated tests: 45 unit + 46 against real PostgreSQL, all green</a:t>
            </a:r>
            <a:endParaRPr lang="en-US" sz="1150" dirty="0"/>
          </a:p>
        </p:txBody>
      </p:sp>
      <p:sp>
        <p:nvSpPr>
          <p:cNvPr id="10" name="Shape 8"/>
          <p:cNvSpPr/>
          <p:nvPr/>
        </p:nvSpPr>
        <p:spPr>
          <a:xfrm>
            <a:off x="4663440" y="1371600"/>
            <a:ext cx="1920240" cy="2057400"/>
          </a:xfrm>
          <a:prstGeom prst="roundRect">
            <a:avLst>
              <a:gd name="adj" fmla="val 3810"/>
            </a:avLst>
          </a:prstGeom>
          <a:solidFill>
            <a:srgbClr val="F3F5F9"/>
          </a:solidFill>
          <a:ln w="12700">
            <a:solidFill>
              <a:srgbClr val="F3F5F9"/>
            </a:solidFill>
            <a:prstDash val="solid"/>
          </a:ln>
          <a:effectLst>
            <a:outerShdw sx="100000" sy="100000" kx="0" ky="0" algn="bl" rotWithShape="0" blurRad="76200" dist="19050" dir="5400000">
              <a:srgbClr val="000000">
                <a:alpha val="12000"/>
              </a:srgbClr>
            </a:outerShdw>
          </a:effectLst>
        </p:spPr>
      </p:sp>
      <p:sp>
        <p:nvSpPr>
          <p:cNvPr id="11" name="Text 9"/>
          <p:cNvSpPr txBox="1"/>
          <p:nvPr/>
        </p:nvSpPr>
        <p:spPr>
          <a:xfrm>
            <a:off x="4800600" y="1554480"/>
            <a:ext cx="1645920" cy="731520"/>
          </a:xfrm>
          <a:prstGeom prst="rect">
            <a:avLst/>
          </a:prstGeom>
          <a:noFill/>
          <a:ln/>
        </p:spPr>
        <p:txBody>
          <a:bodyPr wrap="square" lIns="0" tIns="0" rIns="0" bIns="0" rtlCol="0" anchor="ctr"/>
          <a:lstStyle/>
          <a:p>
            <a:pPr indent="0" marL="0">
              <a:buNone/>
            </a:pPr>
            <a:r>
              <a:rPr lang="en-US" sz="4000" b="1" dirty="0">
                <a:solidFill>
                  <a:srgbClr val="0B1F3A"/>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4800600" y="2377440"/>
            <a:ext cx="1645920" cy="96012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negative balances or deadlocks across repeated load runs</a:t>
            </a:r>
            <a:endParaRPr lang="en-US" sz="1150" dirty="0"/>
          </a:p>
        </p:txBody>
      </p:sp>
      <p:sp>
        <p:nvSpPr>
          <p:cNvPr id="13" name="Shape 11"/>
          <p:cNvSpPr/>
          <p:nvPr/>
        </p:nvSpPr>
        <p:spPr>
          <a:xfrm>
            <a:off x="6766560" y="1371600"/>
            <a:ext cx="1920240" cy="2057400"/>
          </a:xfrm>
          <a:prstGeom prst="roundRect">
            <a:avLst>
              <a:gd name="adj" fmla="val 3810"/>
            </a:avLst>
          </a:prstGeom>
          <a:solidFill>
            <a:srgbClr val="F3F5F9"/>
          </a:solidFill>
          <a:ln w="12700">
            <a:solidFill>
              <a:srgbClr val="F3F5F9"/>
            </a:solidFill>
            <a:prstDash val="solid"/>
          </a:ln>
          <a:effectLst>
            <a:outerShdw sx="100000" sy="100000" kx="0" ky="0" algn="bl" rotWithShape="0" blurRad="76200" dist="19050" dir="5400000">
              <a:srgbClr val="000000">
                <a:alpha val="12000"/>
              </a:srgbClr>
            </a:outerShdw>
          </a:effectLst>
        </p:spPr>
      </p:sp>
      <p:sp>
        <p:nvSpPr>
          <p:cNvPr id="14" name="Text 12"/>
          <p:cNvSpPr txBox="1"/>
          <p:nvPr/>
        </p:nvSpPr>
        <p:spPr>
          <a:xfrm>
            <a:off x="6903720" y="1554480"/>
            <a:ext cx="1645920" cy="731520"/>
          </a:xfrm>
          <a:prstGeom prst="rect">
            <a:avLst/>
          </a:prstGeom>
          <a:noFill/>
          <a:ln/>
        </p:spPr>
        <p:txBody>
          <a:bodyPr wrap="square" lIns="0" tIns="0" rIns="0" bIns="0" rtlCol="0" anchor="ctr"/>
          <a:lstStyle/>
          <a:p>
            <a:pPr indent="0" marL="0">
              <a:buNone/>
            </a:pPr>
            <a:r>
              <a:rPr lang="en-US" sz="4000" b="1" dirty="0">
                <a:solidFill>
                  <a:srgbClr val="0B1F3A"/>
                </a:solidFill>
                <a:latin typeface="Cambria" pitchFamily="34" charset="0"/>
                <a:ea typeface="Cambria" pitchFamily="34" charset="-122"/>
                <a:cs typeface="Cambria" pitchFamily="34" charset="-120"/>
              </a:rPr>
              <a:t>1</a:t>
            </a:r>
            <a:endParaRPr lang="en-US" sz="4000" dirty="0"/>
          </a:p>
        </p:txBody>
      </p:sp>
      <p:sp>
        <p:nvSpPr>
          <p:cNvPr id="15" name="Text 13"/>
          <p:cNvSpPr txBox="1"/>
          <p:nvPr/>
        </p:nvSpPr>
        <p:spPr>
          <a:xfrm>
            <a:off x="6903720" y="2377440"/>
            <a:ext cx="1645920" cy="960120"/>
          </a:xfrm>
          <a:prstGeom prst="rect">
            <a:avLst/>
          </a:prstGeom>
          <a:noFill/>
          <a:ln/>
        </p:spPr>
        <p:txBody>
          <a:bodyPr wrap="square" lIns="0" tIns="0" rIns="0" bIns="0" rtlCol="0" anchor="t"/>
          <a:lstStyle/>
          <a:p>
            <a:pPr indent="0" marL="0">
              <a:buNone/>
            </a:pPr>
            <a:r>
              <a:rPr lang="en-US" sz="1150" dirty="0">
                <a:solidFill>
                  <a:srgbClr val="5B6675"/>
                </a:solidFill>
                <a:latin typeface="Calibri" pitchFamily="34" charset="0"/>
                <a:ea typeface="Calibri" pitchFamily="34" charset="-122"/>
                <a:cs typeface="Calibri" pitchFamily="34" charset="-120"/>
              </a:rPr>
              <a:t>command to run it: docker compose up (a CI job runs exactly that)</a:t>
            </a:r>
            <a:endParaRPr lang="en-US" sz="1150" dirty="0"/>
          </a:p>
        </p:txBody>
      </p:sp>
      <p:sp>
        <p:nvSpPr>
          <p:cNvPr id="16" name="Text 14"/>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Also shipped: </a:t>
            </a:r>
            <a:pPr indent="0" marL="0">
              <a:buNone/>
            </a:pPr>
            <a:r>
              <a:rPr lang="en-US" sz="1250" dirty="0">
                <a:solidFill>
                  <a:srgbClr val="1B2430"/>
                </a:solidFill>
                <a:latin typeface="Calibri" pitchFamily="34" charset="0"/>
                <a:ea typeface="Calibri" pitchFamily="34" charset="-122"/>
                <a:cs typeface="Calibri" pitchFamily="34" charset="-120"/>
              </a:rPr>
              <a:t>Swagger/OpenAPI · rate limiting · transactional outbox (TransferCompleted) · Serilog correlation IDs · health/readiness probes · hash-chained audit trail · GitHub Actions CI with a compose smoke test · README + AI_USAGE.md</a:t>
            </a:r>
            <a:endParaRPr lang="en-US" sz="1250" dirty="0"/>
          </a:p>
        </p:txBody>
      </p:sp>
      <p:sp>
        <p:nvSpPr>
          <p:cNvPr id="17" name="Text 15"/>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18" name="Text 16"/>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ARCHITECTURE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Clean layers; the database is the last guard</a:t>
            </a:r>
            <a:endParaRPr lang="en-US" sz="2400" dirty="0"/>
          </a:p>
        </p:txBody>
      </p:sp>
      <p:sp>
        <p:nvSpPr>
          <p:cNvPr id="4" name="Shape 2"/>
          <p:cNvSpPr/>
          <p:nvPr/>
        </p:nvSpPr>
        <p:spPr>
          <a:xfrm>
            <a:off x="457200" y="1325880"/>
            <a:ext cx="4846320" cy="777240"/>
          </a:xfrm>
          <a:prstGeom prst="roundRect">
            <a:avLst>
              <a:gd name="adj" fmla="val 9412"/>
            </a:avLst>
          </a:prstGeom>
          <a:solidFill>
            <a:srgbClr val="F3F5F9"/>
          </a:solidFill>
          <a:ln w="12700">
            <a:solidFill>
              <a:srgbClr val="F3F5F9"/>
            </a:solidFill>
            <a:prstDash val="solid"/>
          </a:ln>
        </p:spPr>
      </p:sp>
      <p:sp>
        <p:nvSpPr>
          <p:cNvPr id="5" name="Shape 3"/>
          <p:cNvSpPr/>
          <p:nvPr/>
        </p:nvSpPr>
        <p:spPr>
          <a:xfrm>
            <a:off x="594360" y="1463040"/>
            <a:ext cx="502920" cy="502920"/>
          </a:xfrm>
          <a:prstGeom prst="ellipse">
            <a:avLst/>
          </a:prstGeom>
          <a:solidFill>
            <a:srgbClr val="0B1F3A"/>
          </a:solidFill>
          <a:ln w="12700">
            <a:solidFill>
              <a:srgbClr val="0B1F3A"/>
            </a:solidFill>
            <a:prstDash val="solid"/>
          </a:ln>
        </p:spPr>
      </p:sp>
      <p:pic>
        <p:nvPicPr>
          <p:cNvPr id="6" name="Image 0" descr="preencoded.png">    </p:cNvPr>
          <p:cNvPicPr>
            <a:picLocks noChangeAspect="1"/>
          </p:cNvPicPr>
          <p:nvPr/>
        </p:nvPicPr>
        <p:blipFill>
          <a:blip r:embed="rId1"/>
          <a:stretch>
            <a:fillRect/>
          </a:stretch>
        </p:blipFill>
        <p:spPr>
          <a:xfrm>
            <a:off x="725119" y="1593799"/>
            <a:ext cx="241402" cy="241402"/>
          </a:xfrm>
          <a:prstGeom prst="rect">
            <a:avLst/>
          </a:prstGeom>
        </p:spPr>
      </p:pic>
      <p:sp>
        <p:nvSpPr>
          <p:cNvPr id="7" name="Text 4"/>
          <p:cNvSpPr txBox="1"/>
          <p:nvPr/>
        </p:nvSpPr>
        <p:spPr>
          <a:xfrm>
            <a:off x="1234440" y="1417320"/>
            <a:ext cx="3931920" cy="27432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NovaWallet.Api</a:t>
            </a:r>
            <a:endParaRPr lang="en-US" sz="1400" dirty="0"/>
          </a:p>
        </p:txBody>
      </p:sp>
      <p:sp>
        <p:nvSpPr>
          <p:cNvPr id="8" name="Text 5"/>
          <p:cNvSpPr txBox="1"/>
          <p:nvPr/>
        </p:nvSpPr>
        <p:spPr>
          <a:xfrm>
            <a:off x="1234440" y="1709928"/>
            <a:ext cx="3977640" cy="36576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Controllers · JWT · Problem Details · rate limiter · correlation ID · Swagger · health</a:t>
            </a:r>
            <a:endParaRPr lang="en-US" sz="1050" dirty="0"/>
          </a:p>
        </p:txBody>
      </p:sp>
      <p:sp>
        <p:nvSpPr>
          <p:cNvPr id="9" name="Shape 6"/>
          <p:cNvSpPr/>
          <p:nvPr/>
        </p:nvSpPr>
        <p:spPr>
          <a:xfrm>
            <a:off x="2743200" y="2121408"/>
            <a:ext cx="274320" cy="146304"/>
          </a:xfrm>
          <a:prstGeom prst="downArrow">
            <a:avLst/>
          </a:prstGeom>
          <a:solidFill>
            <a:srgbClr val="D4A63A"/>
          </a:solidFill>
          <a:ln w="12700">
            <a:solidFill>
              <a:srgbClr val="D4A63A"/>
            </a:solidFill>
            <a:prstDash val="solid"/>
          </a:ln>
        </p:spPr>
      </p:sp>
      <p:sp>
        <p:nvSpPr>
          <p:cNvPr id="10" name="Shape 7"/>
          <p:cNvSpPr/>
          <p:nvPr/>
        </p:nvSpPr>
        <p:spPr>
          <a:xfrm>
            <a:off x="457200" y="2286000"/>
            <a:ext cx="4846320" cy="777240"/>
          </a:xfrm>
          <a:prstGeom prst="roundRect">
            <a:avLst>
              <a:gd name="adj" fmla="val 9412"/>
            </a:avLst>
          </a:prstGeom>
          <a:solidFill>
            <a:srgbClr val="F6ECD3"/>
          </a:solidFill>
          <a:ln w="12700">
            <a:solidFill>
              <a:srgbClr val="F6ECD3"/>
            </a:solidFill>
            <a:prstDash val="solid"/>
          </a:ln>
        </p:spPr>
      </p:sp>
      <p:sp>
        <p:nvSpPr>
          <p:cNvPr id="11" name="Shape 8"/>
          <p:cNvSpPr/>
          <p:nvPr/>
        </p:nvSpPr>
        <p:spPr>
          <a:xfrm>
            <a:off x="594360" y="2423160"/>
            <a:ext cx="502920" cy="502920"/>
          </a:xfrm>
          <a:prstGeom prst="ellipse">
            <a:avLst/>
          </a:prstGeom>
          <a:solidFill>
            <a:srgbClr val="0B1F3A"/>
          </a:solidFill>
          <a:ln w="12700">
            <a:solidFill>
              <a:srgbClr val="0B1F3A"/>
            </a:solidFill>
            <a:prstDash val="solid"/>
          </a:ln>
        </p:spPr>
      </p:sp>
      <p:pic>
        <p:nvPicPr>
          <p:cNvPr id="12" name="Image 1" descr="preencoded.png">    </p:cNvPr>
          <p:cNvPicPr>
            <a:picLocks noChangeAspect="1"/>
          </p:cNvPicPr>
          <p:nvPr/>
        </p:nvPicPr>
        <p:blipFill>
          <a:blip r:embed="rId2"/>
          <a:stretch>
            <a:fillRect/>
          </a:stretch>
        </p:blipFill>
        <p:spPr>
          <a:xfrm>
            <a:off x="725119" y="2553919"/>
            <a:ext cx="241402" cy="241402"/>
          </a:xfrm>
          <a:prstGeom prst="rect">
            <a:avLst/>
          </a:prstGeom>
        </p:spPr>
      </p:pic>
      <p:sp>
        <p:nvSpPr>
          <p:cNvPr id="13" name="Text 9"/>
          <p:cNvSpPr txBox="1"/>
          <p:nvPr/>
        </p:nvSpPr>
        <p:spPr>
          <a:xfrm>
            <a:off x="1234440" y="2377440"/>
            <a:ext cx="3931920" cy="27432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NovaWallet.Application</a:t>
            </a:r>
            <a:endParaRPr lang="en-US" sz="1400" dirty="0"/>
          </a:p>
        </p:txBody>
      </p:sp>
      <p:sp>
        <p:nvSpPr>
          <p:cNvPr id="14" name="Text 10"/>
          <p:cNvSpPr txBox="1"/>
          <p:nvPr/>
        </p:nvSpPr>
        <p:spPr>
          <a:xfrm>
            <a:off x="1234440" y="2670048"/>
            <a:ext cx="3977640" cy="36576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TransferService · WalletService · DailyLimitPolicy · ILedgerStore port</a:t>
            </a:r>
            <a:endParaRPr lang="en-US" sz="1050" dirty="0"/>
          </a:p>
        </p:txBody>
      </p:sp>
      <p:sp>
        <p:nvSpPr>
          <p:cNvPr id="15" name="Shape 11"/>
          <p:cNvSpPr/>
          <p:nvPr/>
        </p:nvSpPr>
        <p:spPr>
          <a:xfrm>
            <a:off x="2743200" y="3081528"/>
            <a:ext cx="274320" cy="146304"/>
          </a:xfrm>
          <a:prstGeom prst="downArrow">
            <a:avLst/>
          </a:prstGeom>
          <a:solidFill>
            <a:srgbClr val="D4A63A"/>
          </a:solidFill>
          <a:ln w="12700">
            <a:solidFill>
              <a:srgbClr val="D4A63A"/>
            </a:solidFill>
            <a:prstDash val="solid"/>
          </a:ln>
        </p:spPr>
      </p:sp>
      <p:sp>
        <p:nvSpPr>
          <p:cNvPr id="16" name="Shape 12"/>
          <p:cNvSpPr/>
          <p:nvPr/>
        </p:nvSpPr>
        <p:spPr>
          <a:xfrm>
            <a:off x="457200" y="3246120"/>
            <a:ext cx="4846320" cy="777240"/>
          </a:xfrm>
          <a:prstGeom prst="roundRect">
            <a:avLst>
              <a:gd name="adj" fmla="val 9412"/>
            </a:avLst>
          </a:prstGeom>
          <a:solidFill>
            <a:srgbClr val="F3F5F9"/>
          </a:solidFill>
          <a:ln w="12700">
            <a:solidFill>
              <a:srgbClr val="F3F5F9"/>
            </a:solidFill>
            <a:prstDash val="solid"/>
          </a:ln>
        </p:spPr>
      </p:sp>
      <p:sp>
        <p:nvSpPr>
          <p:cNvPr id="17" name="Shape 13"/>
          <p:cNvSpPr/>
          <p:nvPr/>
        </p:nvSpPr>
        <p:spPr>
          <a:xfrm>
            <a:off x="594360" y="3383280"/>
            <a:ext cx="502920" cy="502920"/>
          </a:xfrm>
          <a:prstGeom prst="ellipse">
            <a:avLst/>
          </a:prstGeom>
          <a:solidFill>
            <a:srgbClr val="0B1F3A"/>
          </a:solidFill>
          <a:ln w="12700">
            <a:solidFill>
              <a:srgbClr val="0B1F3A"/>
            </a:solidFill>
            <a:prstDash val="solid"/>
          </a:ln>
        </p:spPr>
      </p:sp>
      <p:pic>
        <p:nvPicPr>
          <p:cNvPr id="18" name="Image 2" descr="preencoded.png">    </p:cNvPr>
          <p:cNvPicPr>
            <a:picLocks noChangeAspect="1"/>
          </p:cNvPicPr>
          <p:nvPr/>
        </p:nvPicPr>
        <p:blipFill>
          <a:blip r:embed="rId3"/>
          <a:stretch>
            <a:fillRect/>
          </a:stretch>
        </p:blipFill>
        <p:spPr>
          <a:xfrm>
            <a:off x="725119" y="3514039"/>
            <a:ext cx="241402" cy="241402"/>
          </a:xfrm>
          <a:prstGeom prst="rect">
            <a:avLst/>
          </a:prstGeom>
        </p:spPr>
      </p:pic>
      <p:sp>
        <p:nvSpPr>
          <p:cNvPr id="19" name="Text 14"/>
          <p:cNvSpPr txBox="1"/>
          <p:nvPr/>
        </p:nvSpPr>
        <p:spPr>
          <a:xfrm>
            <a:off x="1234440" y="3337560"/>
            <a:ext cx="3931920" cy="27432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NovaWallet.Infrastructure</a:t>
            </a:r>
            <a:endParaRPr lang="en-US" sz="1400" dirty="0"/>
          </a:p>
        </p:txBody>
      </p:sp>
      <p:sp>
        <p:nvSpPr>
          <p:cNvPr id="20" name="Text 15"/>
          <p:cNvSpPr txBox="1"/>
          <p:nvPr/>
        </p:nvSpPr>
        <p:spPr>
          <a:xfrm>
            <a:off x="1234440" y="3630168"/>
            <a:ext cx="3977640" cy="365760"/>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EF Core + raw SQL row locks · migrations · outbox worker</a:t>
            </a:r>
            <a:endParaRPr lang="en-US" sz="1050" dirty="0"/>
          </a:p>
        </p:txBody>
      </p:sp>
      <p:sp>
        <p:nvSpPr>
          <p:cNvPr id="21" name="Shape 16"/>
          <p:cNvSpPr/>
          <p:nvPr/>
        </p:nvSpPr>
        <p:spPr>
          <a:xfrm>
            <a:off x="457200" y="4206240"/>
            <a:ext cx="4846320" cy="457200"/>
          </a:xfrm>
          <a:prstGeom prst="roundRect">
            <a:avLst>
              <a:gd name="adj" fmla="val 16000"/>
            </a:avLst>
          </a:prstGeom>
          <a:solidFill>
            <a:srgbClr val="0B1F3A"/>
          </a:solidFill>
          <a:ln w="12700">
            <a:solidFill>
              <a:srgbClr val="0B1F3A"/>
            </a:solidFill>
            <a:prstDash val="solid"/>
          </a:ln>
        </p:spPr>
      </p:sp>
      <p:sp>
        <p:nvSpPr>
          <p:cNvPr id="22" name="Text 17"/>
          <p:cNvSpPr txBox="1"/>
          <p:nvPr/>
        </p:nvSpPr>
        <p:spPr>
          <a:xfrm>
            <a:off x="640080" y="4206240"/>
            <a:ext cx="4572000" cy="457200"/>
          </a:xfrm>
          <a:prstGeom prst="rect">
            <a:avLst/>
          </a:prstGeom>
          <a:noFill/>
          <a:ln/>
        </p:spPr>
        <p:txBody>
          <a:bodyPr wrap="square" lIns="0" tIns="0" rIns="0" bIns="0" rtlCol="0" anchor="ctr"/>
          <a:lstStyle/>
          <a:p>
            <a:pPr indent="0" marL="0">
              <a:buNone/>
            </a:pPr>
            <a:r>
              <a:rPr lang="en-US" sz="1100" b="1" dirty="0">
                <a:solidFill>
                  <a:srgbClr val="D4A63A"/>
                </a:solidFill>
                <a:latin typeface="Calibri" pitchFamily="34" charset="0"/>
                <a:ea typeface="Calibri" pitchFamily="34" charset="-122"/>
                <a:cs typeface="Calibri" pitchFamily="34" charset="-120"/>
              </a:rPr>
              <a:t>NovaWallet.Domain  </a:t>
            </a:r>
            <a:pPr indent="0" marL="0">
              <a:buNone/>
            </a:pPr>
            <a:r>
              <a:rPr lang="en-US" sz="1100" dirty="0">
                <a:solidFill>
                  <a:srgbClr val="FFFFFF"/>
                </a:solidFill>
                <a:latin typeface="Calibri" pitchFamily="34" charset="0"/>
                <a:ea typeface="Calibri" pitchFamily="34" charset="-122"/>
                <a:cs typeface="Calibri" pitchFamily="34" charset="-120"/>
              </a:rPr>
              <a:t>Money (long kobo, checked) · Wallet · LedgerEntry · AuditRecord</a:t>
            </a:r>
            <a:endParaRPr lang="en-US" sz="1100" dirty="0"/>
          </a:p>
        </p:txBody>
      </p:sp>
      <p:sp>
        <p:nvSpPr>
          <p:cNvPr id="23" name="Shape 18"/>
          <p:cNvSpPr/>
          <p:nvPr/>
        </p:nvSpPr>
        <p:spPr>
          <a:xfrm>
            <a:off x="5669280" y="1325880"/>
            <a:ext cx="3017520" cy="3337560"/>
          </a:xfrm>
          <a:prstGeom prst="roundRect">
            <a:avLst>
              <a:gd name="adj" fmla="val 2424"/>
            </a:avLst>
          </a:prstGeom>
          <a:solidFill>
            <a:srgbClr val="0B1F3A"/>
          </a:solidFill>
          <a:ln w="12700">
            <a:solidFill>
              <a:srgbClr val="0B1F3A"/>
            </a:solidFill>
            <a:prstDash val="solid"/>
          </a:ln>
        </p:spPr>
      </p:sp>
      <p:sp>
        <p:nvSpPr>
          <p:cNvPr id="24" name="Shape 19"/>
          <p:cNvSpPr/>
          <p:nvPr/>
        </p:nvSpPr>
        <p:spPr>
          <a:xfrm>
            <a:off x="5852160" y="1463040"/>
            <a:ext cx="502920" cy="502920"/>
          </a:xfrm>
          <a:prstGeom prst="ellipse">
            <a:avLst/>
          </a:prstGeom>
          <a:solidFill>
            <a:srgbClr val="D4A63A"/>
          </a:solidFill>
          <a:ln w="12700">
            <a:solidFill>
              <a:srgbClr val="D4A63A"/>
            </a:solidFill>
            <a:prstDash val="solid"/>
          </a:ln>
        </p:spPr>
      </p:sp>
      <p:pic>
        <p:nvPicPr>
          <p:cNvPr id="25" name="Image 3" descr="preencoded.png">    </p:cNvPr>
          <p:cNvPicPr>
            <a:picLocks noChangeAspect="1"/>
          </p:cNvPicPr>
          <p:nvPr/>
        </p:nvPicPr>
        <p:blipFill>
          <a:blip r:embed="rId4"/>
          <a:stretch>
            <a:fillRect/>
          </a:stretch>
        </p:blipFill>
        <p:spPr>
          <a:xfrm>
            <a:off x="5982919" y="1593799"/>
            <a:ext cx="241402" cy="241402"/>
          </a:xfrm>
          <a:prstGeom prst="rect">
            <a:avLst/>
          </a:prstGeom>
        </p:spPr>
      </p:pic>
      <p:sp>
        <p:nvSpPr>
          <p:cNvPr id="26" name="Text 20"/>
          <p:cNvSpPr txBox="1"/>
          <p:nvPr/>
        </p:nvSpPr>
        <p:spPr>
          <a:xfrm>
            <a:off x="6492240" y="1572768"/>
            <a:ext cx="210312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PostgreSQL 16</a:t>
            </a:r>
            <a:endParaRPr lang="en-US" sz="1500" dirty="0"/>
          </a:p>
        </p:txBody>
      </p:sp>
      <p:sp>
        <p:nvSpPr>
          <p:cNvPr id="27" name="Shape 21"/>
          <p:cNvSpPr/>
          <p:nvPr/>
        </p:nvSpPr>
        <p:spPr>
          <a:xfrm>
            <a:off x="5852160" y="2211324"/>
            <a:ext cx="64008" cy="64008"/>
          </a:xfrm>
          <a:prstGeom prst="ellipse">
            <a:avLst/>
          </a:prstGeom>
          <a:solidFill>
            <a:srgbClr val="D4A63A"/>
          </a:solidFill>
          <a:ln w="12700">
            <a:solidFill>
              <a:srgbClr val="D4A63A"/>
            </a:solidFill>
            <a:prstDash val="solid"/>
          </a:ln>
        </p:spPr>
      </p:sp>
      <p:sp>
        <p:nvSpPr>
          <p:cNvPr id="28" name="Text 22"/>
          <p:cNvSpPr txBox="1"/>
          <p:nvPr/>
        </p:nvSpPr>
        <p:spPr>
          <a:xfrm>
            <a:off x="6035040" y="2148840"/>
            <a:ext cx="2514600" cy="18592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CHECK balance_kobo ≥ 0</a:t>
            </a:r>
            <a:endParaRPr lang="en-US" sz="1200" dirty="0"/>
          </a:p>
        </p:txBody>
      </p:sp>
      <p:sp>
        <p:nvSpPr>
          <p:cNvPr id="29" name="Shape 23"/>
          <p:cNvSpPr/>
          <p:nvPr/>
        </p:nvSpPr>
        <p:spPr>
          <a:xfrm>
            <a:off x="5852160" y="2506980"/>
            <a:ext cx="64008" cy="64008"/>
          </a:xfrm>
          <a:prstGeom prst="ellipse">
            <a:avLst/>
          </a:prstGeom>
          <a:solidFill>
            <a:srgbClr val="D4A63A"/>
          </a:solidFill>
          <a:ln w="12700">
            <a:solidFill>
              <a:srgbClr val="D4A63A"/>
            </a:solidFill>
            <a:prstDash val="solid"/>
          </a:ln>
        </p:spPr>
      </p:sp>
      <p:sp>
        <p:nvSpPr>
          <p:cNvPr id="30" name="Text 24"/>
          <p:cNvSpPr txBox="1"/>
          <p:nvPr/>
        </p:nvSpPr>
        <p:spPr>
          <a:xfrm>
            <a:off x="6035040" y="2444496"/>
            <a:ext cx="25146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Append-only triggers on ledger + audit</a:t>
            </a:r>
            <a:endParaRPr lang="en-US" sz="1200" dirty="0"/>
          </a:p>
        </p:txBody>
      </p:sp>
      <p:sp>
        <p:nvSpPr>
          <p:cNvPr id="31" name="Shape 25"/>
          <p:cNvSpPr/>
          <p:nvPr/>
        </p:nvSpPr>
        <p:spPr>
          <a:xfrm>
            <a:off x="5852160" y="2988564"/>
            <a:ext cx="64008" cy="64008"/>
          </a:xfrm>
          <a:prstGeom prst="ellipse">
            <a:avLst/>
          </a:prstGeom>
          <a:solidFill>
            <a:srgbClr val="D4A63A"/>
          </a:solidFill>
          <a:ln w="12700">
            <a:solidFill>
              <a:srgbClr val="D4A63A"/>
            </a:solidFill>
            <a:prstDash val="solid"/>
          </a:ln>
        </p:spPr>
      </p:sp>
      <p:sp>
        <p:nvSpPr>
          <p:cNvPr id="32" name="Text 26"/>
          <p:cNvSpPr txBox="1"/>
          <p:nvPr/>
        </p:nvSpPr>
        <p:spPr>
          <a:xfrm>
            <a:off x="6035040" y="2926080"/>
            <a:ext cx="25146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Unique (customer, idempotency key)</a:t>
            </a:r>
            <a:endParaRPr lang="en-US" sz="1200" dirty="0"/>
          </a:p>
        </p:txBody>
      </p:sp>
      <p:sp>
        <p:nvSpPr>
          <p:cNvPr id="33" name="Shape 27"/>
          <p:cNvSpPr/>
          <p:nvPr/>
        </p:nvSpPr>
        <p:spPr>
          <a:xfrm>
            <a:off x="5852160" y="3470148"/>
            <a:ext cx="64008" cy="64008"/>
          </a:xfrm>
          <a:prstGeom prst="ellipse">
            <a:avLst/>
          </a:prstGeom>
          <a:solidFill>
            <a:srgbClr val="D4A63A"/>
          </a:solidFill>
          <a:ln w="12700">
            <a:solidFill>
              <a:srgbClr val="D4A63A"/>
            </a:solidFill>
            <a:prstDash val="solid"/>
          </a:ln>
        </p:spPr>
      </p:sp>
      <p:sp>
        <p:nvSpPr>
          <p:cNvPr id="34" name="Text 28"/>
          <p:cNvSpPr txBox="1"/>
          <p:nvPr/>
        </p:nvSpPr>
        <p:spPr>
          <a:xfrm>
            <a:off x="6035040" y="3407664"/>
            <a:ext cx="2514600" cy="18592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Unique NIP reference</a:t>
            </a:r>
            <a:endParaRPr lang="en-US" sz="1200" dirty="0"/>
          </a:p>
        </p:txBody>
      </p:sp>
      <p:sp>
        <p:nvSpPr>
          <p:cNvPr id="35" name="Shape 29"/>
          <p:cNvSpPr/>
          <p:nvPr/>
        </p:nvSpPr>
        <p:spPr>
          <a:xfrm>
            <a:off x="5852160" y="3765804"/>
            <a:ext cx="64008" cy="64008"/>
          </a:xfrm>
          <a:prstGeom prst="ellipse">
            <a:avLst/>
          </a:prstGeom>
          <a:solidFill>
            <a:srgbClr val="D4A63A"/>
          </a:solidFill>
          <a:ln w="12700">
            <a:solidFill>
              <a:srgbClr val="D4A63A"/>
            </a:solidFill>
            <a:prstDash val="solid"/>
          </a:ln>
        </p:spPr>
      </p:sp>
      <p:sp>
        <p:nvSpPr>
          <p:cNvPr id="36" name="Text 30"/>
          <p:cNvSpPr txBox="1"/>
          <p:nvPr/>
        </p:nvSpPr>
        <p:spPr>
          <a:xfrm>
            <a:off x="6035040" y="3703320"/>
            <a:ext cx="2514600" cy="18592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Outbox in the same transaction</a:t>
            </a:r>
            <a:endParaRPr lang="en-US" sz="1200" dirty="0"/>
          </a:p>
        </p:txBody>
      </p:sp>
      <p:sp>
        <p:nvSpPr>
          <p:cNvPr id="37" name="Text 31"/>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38" name="Text 32"/>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CORE ALGORITHM</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One transfer = one database transaction</a:t>
            </a:r>
            <a:endParaRPr lang="en-US" sz="2400" dirty="0"/>
          </a:p>
        </p:txBody>
      </p:sp>
      <p:sp>
        <p:nvSpPr>
          <p:cNvPr id="4" name="Shape 2"/>
          <p:cNvSpPr/>
          <p:nvPr/>
        </p:nvSpPr>
        <p:spPr>
          <a:xfrm>
            <a:off x="457200" y="1325880"/>
            <a:ext cx="1517904" cy="1874520"/>
          </a:xfrm>
          <a:prstGeom prst="roundRect">
            <a:avLst>
              <a:gd name="adj" fmla="val 4819"/>
            </a:avLst>
          </a:prstGeom>
          <a:solidFill>
            <a:srgbClr val="F3F5F9"/>
          </a:solidFill>
          <a:ln w="12700">
            <a:solidFill>
              <a:srgbClr val="F3F5F9"/>
            </a:solidFill>
            <a:prstDash val="solid"/>
          </a:ln>
        </p:spPr>
      </p:sp>
      <p:sp>
        <p:nvSpPr>
          <p:cNvPr id="5" name="Shape 3"/>
          <p:cNvSpPr/>
          <p:nvPr/>
        </p:nvSpPr>
        <p:spPr>
          <a:xfrm>
            <a:off x="594360" y="1463040"/>
            <a:ext cx="457200" cy="457200"/>
          </a:xfrm>
          <a:prstGeom prst="ellipse">
            <a:avLst/>
          </a:prstGeom>
          <a:solidFill>
            <a:srgbClr val="0B1F3A"/>
          </a:solidFill>
          <a:ln w="12700">
            <a:solidFill>
              <a:srgbClr val="0B1F3A"/>
            </a:solidFill>
            <a:prstDash val="solid"/>
          </a:ln>
        </p:spPr>
      </p:sp>
      <p:sp>
        <p:nvSpPr>
          <p:cNvPr id="6" name="Text 4"/>
          <p:cNvSpPr txBox="1"/>
          <p:nvPr/>
        </p:nvSpPr>
        <p:spPr>
          <a:xfrm>
            <a:off x="59436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594360" y="2011680"/>
            <a:ext cx="128016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Claim key</a:t>
            </a:r>
            <a:endParaRPr lang="en-US" sz="1300" dirty="0"/>
          </a:p>
        </p:txBody>
      </p:sp>
      <p:sp>
        <p:nvSpPr>
          <p:cNvPr id="8" name="Text 6"/>
          <p:cNvSpPr txBox="1"/>
          <p:nvPr/>
        </p:nvSpPr>
        <p:spPr>
          <a:xfrm>
            <a:off x="594360" y="2304288"/>
            <a:ext cx="1298448" cy="868680"/>
          </a:xfrm>
          <a:prstGeom prst="rect">
            <a:avLst/>
          </a:prstGeom>
          <a:noFill/>
          <a:ln/>
        </p:spPr>
        <p:txBody>
          <a:bodyPr wrap="square" lIns="0" tIns="0" rIns="0" bIns="0" rtlCol="0" anchor="t"/>
          <a:lstStyle/>
          <a:p>
            <a:pPr indent="0" marL="0">
              <a:buNone/>
            </a:pPr>
            <a:r>
              <a:rPr lang="en-US" sz="1000" dirty="0">
                <a:solidFill>
                  <a:srgbClr val="5B6675"/>
                </a:solidFill>
                <a:latin typeface="Calibri" pitchFamily="34" charset="0"/>
                <a:ea typeface="Calibri" pitchFamily="34" charset="-122"/>
                <a:cs typeface="Calibri" pitchFamily="34" charset="-120"/>
              </a:rPr>
              <a:t>INSERT … ON CONFLICT DO NOTHING — a duplicate in flight waits here</a:t>
            </a:r>
            <a:endParaRPr lang="en-US" sz="1000" dirty="0"/>
          </a:p>
        </p:txBody>
      </p:sp>
      <p:sp>
        <p:nvSpPr>
          <p:cNvPr id="9" name="Shape 7"/>
          <p:cNvSpPr/>
          <p:nvPr/>
        </p:nvSpPr>
        <p:spPr>
          <a:xfrm>
            <a:off x="2139696" y="1325880"/>
            <a:ext cx="1517904" cy="1874520"/>
          </a:xfrm>
          <a:prstGeom prst="roundRect">
            <a:avLst>
              <a:gd name="adj" fmla="val 4819"/>
            </a:avLst>
          </a:prstGeom>
          <a:solidFill>
            <a:srgbClr val="F3F5F9"/>
          </a:solidFill>
          <a:ln w="12700">
            <a:solidFill>
              <a:srgbClr val="F3F5F9"/>
            </a:solidFill>
            <a:prstDash val="solid"/>
          </a:ln>
        </p:spPr>
      </p:sp>
      <p:sp>
        <p:nvSpPr>
          <p:cNvPr id="10" name="Shape 8"/>
          <p:cNvSpPr/>
          <p:nvPr/>
        </p:nvSpPr>
        <p:spPr>
          <a:xfrm>
            <a:off x="2276856" y="1463040"/>
            <a:ext cx="457200" cy="457200"/>
          </a:xfrm>
          <a:prstGeom prst="ellipse">
            <a:avLst/>
          </a:prstGeom>
          <a:solidFill>
            <a:srgbClr val="D4A63A"/>
          </a:solidFill>
          <a:ln w="12700">
            <a:solidFill>
              <a:srgbClr val="D4A63A"/>
            </a:solidFill>
            <a:prstDash val="solid"/>
          </a:ln>
        </p:spPr>
      </p:sp>
      <p:sp>
        <p:nvSpPr>
          <p:cNvPr id="11" name="Text 9"/>
          <p:cNvSpPr txBox="1"/>
          <p:nvPr/>
        </p:nvSpPr>
        <p:spPr>
          <a:xfrm>
            <a:off x="2276856"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2276856" y="2011680"/>
            <a:ext cx="128016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Lock wallets</a:t>
            </a:r>
            <a:endParaRPr lang="en-US" sz="1300" dirty="0"/>
          </a:p>
        </p:txBody>
      </p:sp>
      <p:sp>
        <p:nvSpPr>
          <p:cNvPr id="13" name="Text 11"/>
          <p:cNvSpPr txBox="1"/>
          <p:nvPr/>
        </p:nvSpPr>
        <p:spPr>
          <a:xfrm>
            <a:off x="2276856" y="2304288"/>
            <a:ext cx="1298448" cy="868680"/>
          </a:xfrm>
          <a:prstGeom prst="rect">
            <a:avLst/>
          </a:prstGeom>
          <a:noFill/>
          <a:ln/>
        </p:spPr>
        <p:txBody>
          <a:bodyPr wrap="square" lIns="0" tIns="0" rIns="0" bIns="0" rtlCol="0" anchor="t"/>
          <a:lstStyle/>
          <a:p>
            <a:pPr indent="0" marL="0">
              <a:buNone/>
            </a:pPr>
            <a:r>
              <a:rPr lang="en-US" sz="1000" dirty="0">
                <a:solidFill>
                  <a:srgbClr val="5B6675"/>
                </a:solidFill>
                <a:latin typeface="Calibri" pitchFamily="34" charset="0"/>
                <a:ea typeface="Calibri" pitchFamily="34" charset="-122"/>
                <a:cs typeface="Calibri" pitchFamily="34" charset="-120"/>
              </a:rPr>
              <a:t>SELECT … FOR UPDATE, lower id first → no deadlocks</a:t>
            </a:r>
            <a:endParaRPr lang="en-US" sz="1000" dirty="0"/>
          </a:p>
        </p:txBody>
      </p:sp>
      <p:sp>
        <p:nvSpPr>
          <p:cNvPr id="14" name="Shape 12"/>
          <p:cNvSpPr/>
          <p:nvPr/>
        </p:nvSpPr>
        <p:spPr>
          <a:xfrm>
            <a:off x="3822192" y="1325880"/>
            <a:ext cx="1517904" cy="1874520"/>
          </a:xfrm>
          <a:prstGeom prst="roundRect">
            <a:avLst>
              <a:gd name="adj" fmla="val 4819"/>
            </a:avLst>
          </a:prstGeom>
          <a:solidFill>
            <a:srgbClr val="F3F5F9"/>
          </a:solidFill>
          <a:ln w="12700">
            <a:solidFill>
              <a:srgbClr val="F3F5F9"/>
            </a:solidFill>
            <a:prstDash val="solid"/>
          </a:ln>
        </p:spPr>
      </p:sp>
      <p:sp>
        <p:nvSpPr>
          <p:cNvPr id="15" name="Shape 13"/>
          <p:cNvSpPr/>
          <p:nvPr/>
        </p:nvSpPr>
        <p:spPr>
          <a:xfrm>
            <a:off x="3959352" y="1463040"/>
            <a:ext cx="457200" cy="457200"/>
          </a:xfrm>
          <a:prstGeom prst="ellipse">
            <a:avLst/>
          </a:prstGeom>
          <a:solidFill>
            <a:srgbClr val="0B1F3A"/>
          </a:solidFill>
          <a:ln w="12700">
            <a:solidFill>
              <a:srgbClr val="0B1F3A"/>
            </a:solidFill>
            <a:prstDash val="solid"/>
          </a:ln>
        </p:spPr>
      </p:sp>
      <p:sp>
        <p:nvSpPr>
          <p:cNvPr id="16" name="Text 14"/>
          <p:cNvSpPr txBox="1"/>
          <p:nvPr/>
        </p:nvSpPr>
        <p:spPr>
          <a:xfrm>
            <a:off x="3959352"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3959352" y="2011680"/>
            <a:ext cx="128016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Check rules</a:t>
            </a:r>
            <a:endParaRPr lang="en-US" sz="1300" dirty="0"/>
          </a:p>
        </p:txBody>
      </p:sp>
      <p:sp>
        <p:nvSpPr>
          <p:cNvPr id="18" name="Text 16"/>
          <p:cNvSpPr txBox="1"/>
          <p:nvPr/>
        </p:nvSpPr>
        <p:spPr>
          <a:xfrm>
            <a:off x="3959352" y="2304288"/>
            <a:ext cx="1298448" cy="868680"/>
          </a:xfrm>
          <a:prstGeom prst="rect">
            <a:avLst/>
          </a:prstGeom>
          <a:noFill/>
          <a:ln/>
        </p:spPr>
        <p:txBody>
          <a:bodyPr wrap="square" lIns="0" tIns="0" rIns="0" bIns="0" rtlCol="0" anchor="t"/>
          <a:lstStyle/>
          <a:p>
            <a:pPr indent="0" marL="0">
              <a:buNone/>
            </a:pPr>
            <a:r>
              <a:rPr lang="en-US" sz="1000" dirty="0">
                <a:solidFill>
                  <a:srgbClr val="5B6675"/>
                </a:solidFill>
                <a:latin typeface="Calibri" pitchFamily="34" charset="0"/>
                <a:ea typeface="Calibri" pitchFamily="34" charset="-122"/>
                <a:cs typeface="Calibri" pitchFamily="34" charset="-120"/>
              </a:rPr>
              <a:t>owner · funds · daily limit — all while holding the locks</a:t>
            </a:r>
            <a:endParaRPr lang="en-US" sz="1000" dirty="0"/>
          </a:p>
        </p:txBody>
      </p:sp>
      <p:sp>
        <p:nvSpPr>
          <p:cNvPr id="19" name="Shape 17"/>
          <p:cNvSpPr/>
          <p:nvPr/>
        </p:nvSpPr>
        <p:spPr>
          <a:xfrm>
            <a:off x="5504688" y="1325880"/>
            <a:ext cx="1517904" cy="1874520"/>
          </a:xfrm>
          <a:prstGeom prst="roundRect">
            <a:avLst>
              <a:gd name="adj" fmla="val 4819"/>
            </a:avLst>
          </a:prstGeom>
          <a:solidFill>
            <a:srgbClr val="F3F5F9"/>
          </a:solidFill>
          <a:ln w="12700">
            <a:solidFill>
              <a:srgbClr val="F3F5F9"/>
            </a:solidFill>
            <a:prstDash val="solid"/>
          </a:ln>
        </p:spPr>
      </p:sp>
      <p:sp>
        <p:nvSpPr>
          <p:cNvPr id="20" name="Shape 18"/>
          <p:cNvSpPr/>
          <p:nvPr/>
        </p:nvSpPr>
        <p:spPr>
          <a:xfrm>
            <a:off x="5641848" y="1463040"/>
            <a:ext cx="457200" cy="457200"/>
          </a:xfrm>
          <a:prstGeom prst="ellipse">
            <a:avLst/>
          </a:prstGeom>
          <a:solidFill>
            <a:srgbClr val="0B1F3A"/>
          </a:solidFill>
          <a:ln w="12700">
            <a:solidFill>
              <a:srgbClr val="0B1F3A"/>
            </a:solidFill>
            <a:prstDash val="solid"/>
          </a:ln>
        </p:spPr>
      </p:sp>
      <p:sp>
        <p:nvSpPr>
          <p:cNvPr id="21" name="Text 19"/>
          <p:cNvSpPr txBox="1"/>
          <p:nvPr/>
        </p:nvSpPr>
        <p:spPr>
          <a:xfrm>
            <a:off x="5641848"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5641848" y="2011680"/>
            <a:ext cx="128016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Write all</a:t>
            </a:r>
            <a:endParaRPr lang="en-US" sz="1300" dirty="0"/>
          </a:p>
        </p:txBody>
      </p:sp>
      <p:sp>
        <p:nvSpPr>
          <p:cNvPr id="23" name="Text 21"/>
          <p:cNvSpPr txBox="1"/>
          <p:nvPr/>
        </p:nvSpPr>
        <p:spPr>
          <a:xfrm>
            <a:off x="5641848" y="2304288"/>
            <a:ext cx="1298448" cy="868680"/>
          </a:xfrm>
          <a:prstGeom prst="rect">
            <a:avLst/>
          </a:prstGeom>
          <a:noFill/>
          <a:ln/>
        </p:spPr>
        <p:txBody>
          <a:bodyPr wrap="square" lIns="0" tIns="0" rIns="0" bIns="0" rtlCol="0" anchor="t"/>
          <a:lstStyle/>
          <a:p>
            <a:pPr indent="0" marL="0">
              <a:buNone/>
            </a:pPr>
            <a:r>
              <a:rPr lang="en-US" sz="1000" dirty="0">
                <a:solidFill>
                  <a:srgbClr val="5B6675"/>
                </a:solidFill>
                <a:latin typeface="Calibri" pitchFamily="34" charset="0"/>
                <a:ea typeface="Calibri" pitchFamily="34" charset="-122"/>
                <a:cs typeface="Calibri" pitchFamily="34" charset="-120"/>
              </a:rPr>
              <a:t>balances · transaction · 2 entries · 2 audit rows · outbox</a:t>
            </a:r>
            <a:endParaRPr lang="en-US" sz="1000" dirty="0"/>
          </a:p>
        </p:txBody>
      </p:sp>
      <p:sp>
        <p:nvSpPr>
          <p:cNvPr id="24" name="Shape 22"/>
          <p:cNvSpPr/>
          <p:nvPr/>
        </p:nvSpPr>
        <p:spPr>
          <a:xfrm>
            <a:off x="7187184" y="1325880"/>
            <a:ext cx="1517904" cy="1874520"/>
          </a:xfrm>
          <a:prstGeom prst="roundRect">
            <a:avLst>
              <a:gd name="adj" fmla="val 4819"/>
            </a:avLst>
          </a:prstGeom>
          <a:solidFill>
            <a:srgbClr val="F3F5F9"/>
          </a:solidFill>
          <a:ln w="12700">
            <a:solidFill>
              <a:srgbClr val="F3F5F9"/>
            </a:solidFill>
            <a:prstDash val="solid"/>
          </a:ln>
        </p:spPr>
      </p:sp>
      <p:sp>
        <p:nvSpPr>
          <p:cNvPr id="25" name="Shape 23"/>
          <p:cNvSpPr/>
          <p:nvPr/>
        </p:nvSpPr>
        <p:spPr>
          <a:xfrm>
            <a:off x="7324344" y="1463040"/>
            <a:ext cx="457200" cy="457200"/>
          </a:xfrm>
          <a:prstGeom prst="ellipse">
            <a:avLst/>
          </a:prstGeom>
          <a:solidFill>
            <a:srgbClr val="0B1F3A"/>
          </a:solidFill>
          <a:ln w="12700">
            <a:solidFill>
              <a:srgbClr val="0B1F3A"/>
            </a:solidFill>
            <a:prstDash val="solid"/>
          </a:ln>
        </p:spPr>
      </p:sp>
      <p:sp>
        <p:nvSpPr>
          <p:cNvPr id="26" name="Text 24"/>
          <p:cNvSpPr txBox="1"/>
          <p:nvPr/>
        </p:nvSpPr>
        <p:spPr>
          <a:xfrm>
            <a:off x="7324344"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7324344" y="2011680"/>
            <a:ext cx="128016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Commit</a:t>
            </a:r>
            <a:endParaRPr lang="en-US" sz="1300" dirty="0"/>
          </a:p>
        </p:txBody>
      </p:sp>
      <p:sp>
        <p:nvSpPr>
          <p:cNvPr id="28" name="Text 26"/>
          <p:cNvSpPr txBox="1"/>
          <p:nvPr/>
        </p:nvSpPr>
        <p:spPr>
          <a:xfrm>
            <a:off x="7324344" y="2304288"/>
            <a:ext cx="1298448" cy="868680"/>
          </a:xfrm>
          <a:prstGeom prst="rect">
            <a:avLst/>
          </a:prstGeom>
          <a:noFill/>
          <a:ln/>
        </p:spPr>
        <p:txBody>
          <a:bodyPr wrap="square" lIns="0" tIns="0" rIns="0" bIns="0" rtlCol="0" anchor="t"/>
          <a:lstStyle/>
          <a:p>
            <a:pPr indent="0" marL="0">
              <a:buNone/>
            </a:pPr>
            <a:r>
              <a:rPr lang="en-US" sz="1000" dirty="0">
                <a:solidFill>
                  <a:srgbClr val="5B6675"/>
                </a:solidFill>
                <a:latin typeface="Calibri" pitchFamily="34" charset="0"/>
                <a:ea typeface="Calibri" pitchFamily="34" charset="-122"/>
                <a:cs typeface="Calibri" pitchFamily="34" charset="-120"/>
              </a:rPr>
              <a:t>store response on the key; locks released</a:t>
            </a:r>
            <a:endParaRPr lang="en-US" sz="1000" dirty="0"/>
          </a:p>
        </p:txBody>
      </p:sp>
      <p:sp>
        <p:nvSpPr>
          <p:cNvPr id="29" name="Shape 27"/>
          <p:cNvSpPr/>
          <p:nvPr/>
        </p:nvSpPr>
        <p:spPr>
          <a:xfrm>
            <a:off x="457200" y="3383280"/>
            <a:ext cx="5120640" cy="1280160"/>
          </a:xfrm>
          <a:prstGeom prst="roundRect">
            <a:avLst>
              <a:gd name="adj" fmla="val 5714"/>
            </a:avLst>
          </a:prstGeom>
          <a:solidFill>
            <a:srgbClr val="0B1F3A"/>
          </a:solidFill>
          <a:ln w="12700">
            <a:solidFill>
              <a:srgbClr val="0B1F3A"/>
            </a:solidFill>
            <a:prstDash val="solid"/>
          </a:ln>
        </p:spPr>
      </p:sp>
      <p:sp>
        <p:nvSpPr>
          <p:cNvPr id="30" name="Text 28"/>
          <p:cNvSpPr txBox="1"/>
          <p:nvPr/>
        </p:nvSpPr>
        <p:spPr>
          <a:xfrm>
            <a:off x="640080" y="3474720"/>
            <a:ext cx="4846320" cy="1097280"/>
          </a:xfrm>
          <a:prstGeom prst="rect">
            <a:avLst/>
          </a:prstGeom>
          <a:noFill/>
          <a:ln/>
        </p:spPr>
        <p:txBody>
          <a:bodyPr wrap="square" lIns="0" tIns="0" rIns="0" bIns="0" rtlCol="0" anchor="ctr"/>
          <a:lstStyle/>
          <a:p>
            <a:pPr indent="0" marL="0">
              <a:buNone/>
            </a:pPr>
            <a:r>
              <a:rPr lang="en-US" sz="950" dirty="0">
                <a:solidFill>
                  <a:srgbClr val="E6EDF7"/>
                </a:solidFill>
                <a:latin typeface="Courier New" pitchFamily="34" charset="0"/>
                <a:ea typeface="Courier New" pitchFamily="34" charset="-122"/>
                <a:cs typeface="Courier New" pitchFamily="34" charset="-120"/>
              </a:rPr>
              <a:t>// lock in a fixed order, then decide</a:t>
            </a:r>
            <a:endParaRPr lang="en-US" sz="950" dirty="0"/>
          </a:p>
          <a:p>
            <a:pPr indent="0" marL="0">
              <a:buNone/>
            </a:pPr>
            <a:r>
              <a:rPr lang="en-US" sz="950" dirty="0">
                <a:solidFill>
                  <a:srgbClr val="E6EDF7"/>
                </a:solidFill>
                <a:latin typeface="Courier New" pitchFamily="34" charset="0"/>
                <a:ea typeface="Courier New" pitchFamily="34" charset="-122"/>
                <a:cs typeface="Courier New" pitchFamily="34" charset="-120"/>
              </a:rPr>
              <a:t>var (first, second) = src &lt; dst ? (src, dst) : (dst, src);</a:t>
            </a:r>
            <a:endParaRPr lang="en-US" sz="950" dirty="0"/>
          </a:p>
          <a:p>
            <a:pPr indent="0" marL="0">
              <a:buNone/>
            </a:pPr>
            <a:r>
              <a:rPr lang="en-US" sz="950" dirty="0">
                <a:solidFill>
                  <a:srgbClr val="E6EDF7"/>
                </a:solidFill>
                <a:latin typeface="Courier New" pitchFamily="34" charset="0"/>
                <a:ea typeface="Courier New" pitchFamily="34" charset="-122"/>
                <a:cs typeface="Courier New" pitchFamily="34" charset="-120"/>
              </a:rPr>
              <a:t>await store.LockWalletAsync(first);   // FOR UPDATE</a:t>
            </a:r>
            <a:endParaRPr lang="en-US" sz="950" dirty="0"/>
          </a:p>
          <a:p>
            <a:pPr indent="0" marL="0">
              <a:buNone/>
            </a:pPr>
            <a:r>
              <a:rPr lang="en-US" sz="950" dirty="0">
                <a:solidFill>
                  <a:srgbClr val="E6EDF7"/>
                </a:solidFill>
                <a:latin typeface="Courier New" pitchFamily="34" charset="0"/>
                <a:ea typeface="Courier New" pitchFamily="34" charset="-122"/>
                <a:cs typeface="Courier New" pitchFamily="34" charset="-120"/>
              </a:rPr>
              <a:t>await store.LockWalletAsync(second);</a:t>
            </a:r>
            <a:endParaRPr lang="en-US" sz="950" dirty="0"/>
          </a:p>
          <a:p>
            <a:pPr indent="0" marL="0">
              <a:buNone/>
            </a:pPr>
            <a:r>
              <a:rPr lang="en-US" sz="950" dirty="0">
                <a:solidFill>
                  <a:srgbClr val="E6EDF7"/>
                </a:solidFill>
                <a:latin typeface="Courier New" pitchFamily="34" charset="0"/>
                <a:ea typeface="Courier New" pitchFamily="34" charset="-122"/>
                <a:cs typeface="Courier New" pitchFamily="34" charset="-120"/>
              </a:rPr>
              <a:t>dailyLimit.EnsureWithinLimit(spentToday, amount);</a:t>
            </a:r>
            <a:endParaRPr lang="en-US" sz="950" dirty="0"/>
          </a:p>
          <a:p>
            <a:pPr indent="0" marL="0">
              <a:buNone/>
            </a:pPr>
            <a:r>
              <a:rPr lang="en-US" sz="950" dirty="0">
                <a:solidFill>
                  <a:srgbClr val="E6EDF7"/>
                </a:solidFill>
                <a:latin typeface="Courier New" pitchFamily="34" charset="0"/>
                <a:ea typeface="Courier New" pitchFamily="34" charset="-122"/>
                <a:cs typeface="Courier New" pitchFamily="34" charset="-120"/>
              </a:rPr>
              <a:t>source.Debit(amount); destination.Credit(amount);</a:t>
            </a:r>
            <a:endParaRPr lang="en-US" sz="950" dirty="0"/>
          </a:p>
        </p:txBody>
      </p:sp>
      <p:sp>
        <p:nvSpPr>
          <p:cNvPr id="31" name="Shape 29"/>
          <p:cNvSpPr/>
          <p:nvPr/>
        </p:nvSpPr>
        <p:spPr>
          <a:xfrm>
            <a:off x="5760720" y="3383280"/>
            <a:ext cx="2926080" cy="1280160"/>
          </a:xfrm>
          <a:prstGeom prst="roundRect">
            <a:avLst>
              <a:gd name="adj" fmla="val 5714"/>
            </a:avLst>
          </a:prstGeom>
          <a:solidFill>
            <a:srgbClr val="F8E4E1"/>
          </a:solidFill>
          <a:ln w="12700">
            <a:solidFill>
              <a:srgbClr val="F8E4E1"/>
            </a:solidFill>
            <a:prstDash val="solid"/>
          </a:ln>
        </p:spPr>
      </p:sp>
      <p:sp>
        <p:nvSpPr>
          <p:cNvPr id="32" name="Text 30"/>
          <p:cNvSpPr txBox="1"/>
          <p:nvPr/>
        </p:nvSpPr>
        <p:spPr>
          <a:xfrm>
            <a:off x="5897880" y="3474720"/>
            <a:ext cx="2697480" cy="1143000"/>
          </a:xfrm>
          <a:prstGeom prst="rect">
            <a:avLst/>
          </a:prstGeom>
          <a:noFill/>
          <a:ln/>
        </p:spPr>
        <p:txBody>
          <a:bodyPr wrap="square" lIns="0" tIns="0" rIns="0" bIns="0" rtlCol="0" anchor="t"/>
          <a:lstStyle/>
          <a:p>
            <a:pPr indent="0" marL="0">
              <a:buNone/>
            </a:pPr>
            <a:r>
              <a:rPr lang="en-US" sz="1100" b="1" dirty="0">
                <a:solidFill>
                  <a:srgbClr val="B83A2E"/>
                </a:solidFill>
                <a:latin typeface="Calibri" pitchFamily="34" charset="0"/>
                <a:ea typeface="Calibri" pitchFamily="34" charset="-122"/>
                <a:cs typeface="Calibri" pitchFamily="34" charset="-120"/>
              </a:rPr>
              <a:t>On a business rejection</a:t>
            </a:r>
            <a:endParaRPr lang="en-US" sz="1100" dirty="0"/>
          </a:p>
          <a:p>
            <a:pPr indent="0" marL="0">
              <a:buNone/>
            </a:pPr>
            <a:r>
              <a:rPr lang="en-US" sz="1100" dirty="0">
                <a:solidFill>
                  <a:srgbClr val="1B2430"/>
                </a:solidFill>
                <a:latin typeface="Calibri" pitchFamily="34" charset="0"/>
                <a:ea typeface="Calibri" pitchFamily="34" charset="-122"/>
                <a:cs typeface="Calibri" pitchFamily="34" charset="-120"/>
              </a:rPr>
              <a:t>discard writes, store the error against the key, commit. On an unexpected failure: roll back everything, key included — safe to retry.</a:t>
            </a:r>
            <a:endParaRPr lang="en-US" sz="1100" dirty="0"/>
          </a:p>
        </p:txBody>
      </p:sp>
      <p:sp>
        <p:nvSpPr>
          <p:cNvPr id="33" name="Text 31"/>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34" name="Text 32"/>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IDEMPOTENCY</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Retries are normal on USSD — make them harmless</a:t>
            </a:r>
            <a:endParaRPr lang="en-US" sz="2400" dirty="0"/>
          </a:p>
        </p:txBody>
      </p:sp>
      <p:sp>
        <p:nvSpPr>
          <p:cNvPr id="4" name="Shape 2"/>
          <p:cNvSpPr/>
          <p:nvPr/>
        </p:nvSpPr>
        <p:spPr>
          <a:xfrm>
            <a:off x="457200" y="1325880"/>
            <a:ext cx="5394960" cy="475488"/>
          </a:xfrm>
          <a:prstGeom prst="roundRect">
            <a:avLst>
              <a:gd name="adj" fmla="val 15385"/>
            </a:avLst>
          </a:prstGeom>
          <a:solidFill>
            <a:srgbClr val="E3F2EA"/>
          </a:solidFill>
          <a:ln w="12700">
            <a:solidFill>
              <a:srgbClr val="E3F2EA"/>
            </a:solidFill>
            <a:prstDash val="solid"/>
          </a:ln>
        </p:spPr>
      </p:sp>
      <p:pic>
        <p:nvPicPr>
          <p:cNvPr id="5" name="Image 0" descr="preencoded.png">    </p:cNvPr>
          <p:cNvPicPr>
            <a:picLocks noChangeAspect="1"/>
          </p:cNvPicPr>
          <p:nvPr/>
        </p:nvPicPr>
        <p:blipFill>
          <a:blip r:embed="rId1"/>
          <a:stretch>
            <a:fillRect/>
          </a:stretch>
        </p:blipFill>
        <p:spPr>
          <a:xfrm>
            <a:off x="594360" y="1444752"/>
            <a:ext cx="237744" cy="237744"/>
          </a:xfrm>
          <a:prstGeom prst="rect">
            <a:avLst/>
          </a:prstGeom>
        </p:spPr>
      </p:pic>
      <p:sp>
        <p:nvSpPr>
          <p:cNvPr id="6" name="Text 3"/>
          <p:cNvSpPr txBox="1"/>
          <p:nvPr/>
        </p:nvSpPr>
        <p:spPr>
          <a:xfrm>
            <a:off x="960120" y="1325880"/>
            <a:ext cx="2103120" cy="47548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Same key, same body</a:t>
            </a:r>
            <a:endParaRPr lang="en-US" sz="1150" dirty="0"/>
          </a:p>
        </p:txBody>
      </p:sp>
      <p:sp>
        <p:nvSpPr>
          <p:cNvPr id="7" name="Text 4"/>
          <p:cNvSpPr txBox="1"/>
          <p:nvPr/>
        </p:nvSpPr>
        <p:spPr>
          <a:xfrm>
            <a:off x="3108960" y="1325880"/>
            <a:ext cx="2651760" cy="475488"/>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Original receipt, 201, Idempotent-Replayed: true</a:t>
            </a:r>
            <a:endParaRPr lang="en-US" sz="1100" dirty="0"/>
          </a:p>
        </p:txBody>
      </p:sp>
      <p:sp>
        <p:nvSpPr>
          <p:cNvPr id="8" name="Shape 5"/>
          <p:cNvSpPr/>
          <p:nvPr/>
        </p:nvSpPr>
        <p:spPr>
          <a:xfrm>
            <a:off x="457200" y="1892808"/>
            <a:ext cx="5394960" cy="475488"/>
          </a:xfrm>
          <a:prstGeom prst="roundRect">
            <a:avLst>
              <a:gd name="adj" fmla="val 15385"/>
            </a:avLst>
          </a:prstGeom>
          <a:solidFill>
            <a:srgbClr val="F8E4E1"/>
          </a:solidFill>
          <a:ln w="12700">
            <a:solidFill>
              <a:srgbClr val="F8E4E1"/>
            </a:solidFill>
            <a:prstDash val="solid"/>
          </a:ln>
        </p:spPr>
      </p:sp>
      <p:pic>
        <p:nvPicPr>
          <p:cNvPr id="9" name="Image 1" descr="preencoded.png">    </p:cNvPr>
          <p:cNvPicPr>
            <a:picLocks noChangeAspect="1"/>
          </p:cNvPicPr>
          <p:nvPr/>
        </p:nvPicPr>
        <p:blipFill>
          <a:blip r:embed="rId2"/>
          <a:stretch>
            <a:fillRect/>
          </a:stretch>
        </p:blipFill>
        <p:spPr>
          <a:xfrm>
            <a:off x="594360" y="2011680"/>
            <a:ext cx="237744" cy="237744"/>
          </a:xfrm>
          <a:prstGeom prst="rect">
            <a:avLst/>
          </a:prstGeom>
        </p:spPr>
      </p:pic>
      <p:sp>
        <p:nvSpPr>
          <p:cNvPr id="10" name="Text 6"/>
          <p:cNvSpPr txBox="1"/>
          <p:nvPr/>
        </p:nvSpPr>
        <p:spPr>
          <a:xfrm>
            <a:off x="960120" y="1892808"/>
            <a:ext cx="2103120" cy="47548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Same key, different body</a:t>
            </a:r>
            <a:endParaRPr lang="en-US" sz="1150" dirty="0"/>
          </a:p>
        </p:txBody>
      </p:sp>
      <p:sp>
        <p:nvSpPr>
          <p:cNvPr id="11" name="Text 7"/>
          <p:cNvSpPr txBox="1"/>
          <p:nvPr/>
        </p:nvSpPr>
        <p:spPr>
          <a:xfrm>
            <a:off x="3108960" y="1892808"/>
            <a:ext cx="2651760" cy="475488"/>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422 idempotency_key_reused</a:t>
            </a:r>
            <a:endParaRPr lang="en-US" sz="1100" dirty="0"/>
          </a:p>
        </p:txBody>
      </p:sp>
      <p:sp>
        <p:nvSpPr>
          <p:cNvPr id="12" name="Shape 8"/>
          <p:cNvSpPr/>
          <p:nvPr/>
        </p:nvSpPr>
        <p:spPr>
          <a:xfrm>
            <a:off x="457200" y="2459736"/>
            <a:ext cx="5394960" cy="475488"/>
          </a:xfrm>
          <a:prstGeom prst="roundRect">
            <a:avLst>
              <a:gd name="adj" fmla="val 15385"/>
            </a:avLst>
          </a:prstGeom>
          <a:solidFill>
            <a:srgbClr val="F6ECD3"/>
          </a:solidFill>
          <a:ln w="12700">
            <a:solidFill>
              <a:srgbClr val="F6ECD3"/>
            </a:solidFill>
            <a:prstDash val="solid"/>
          </a:ln>
        </p:spPr>
      </p:sp>
      <p:pic>
        <p:nvPicPr>
          <p:cNvPr id="13" name="Image 2" descr="preencoded.png">    </p:cNvPr>
          <p:cNvPicPr>
            <a:picLocks noChangeAspect="1"/>
          </p:cNvPicPr>
          <p:nvPr/>
        </p:nvPicPr>
        <p:blipFill>
          <a:blip r:embed="rId3"/>
          <a:stretch>
            <a:fillRect/>
          </a:stretch>
        </p:blipFill>
        <p:spPr>
          <a:xfrm>
            <a:off x="594360" y="2578608"/>
            <a:ext cx="237744" cy="237744"/>
          </a:xfrm>
          <a:prstGeom prst="rect">
            <a:avLst/>
          </a:prstGeom>
        </p:spPr>
      </p:pic>
      <p:sp>
        <p:nvSpPr>
          <p:cNvPr id="14" name="Text 9"/>
          <p:cNvSpPr txBox="1"/>
          <p:nvPr/>
        </p:nvSpPr>
        <p:spPr>
          <a:xfrm>
            <a:off x="960120" y="2459736"/>
            <a:ext cx="2103120" cy="47548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Same key, first attempt was declined</a:t>
            </a:r>
            <a:endParaRPr lang="en-US" sz="1150" dirty="0"/>
          </a:p>
        </p:txBody>
      </p:sp>
      <p:sp>
        <p:nvSpPr>
          <p:cNvPr id="15" name="Text 10"/>
          <p:cNvSpPr txBox="1"/>
          <p:nvPr/>
        </p:nvSpPr>
        <p:spPr>
          <a:xfrm>
            <a:off x="3108960" y="2459736"/>
            <a:ext cx="2651760" cy="475488"/>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Same error again (cached) — even after a top-up</a:t>
            </a:r>
            <a:endParaRPr lang="en-US" sz="1100" dirty="0"/>
          </a:p>
        </p:txBody>
      </p:sp>
      <p:sp>
        <p:nvSpPr>
          <p:cNvPr id="16" name="Shape 11"/>
          <p:cNvSpPr/>
          <p:nvPr/>
        </p:nvSpPr>
        <p:spPr>
          <a:xfrm>
            <a:off x="457200" y="3026664"/>
            <a:ext cx="5394960" cy="475488"/>
          </a:xfrm>
          <a:prstGeom prst="roundRect">
            <a:avLst>
              <a:gd name="adj" fmla="val 15385"/>
            </a:avLst>
          </a:prstGeom>
          <a:solidFill>
            <a:srgbClr val="F3F5F9"/>
          </a:solidFill>
          <a:ln w="12700">
            <a:solidFill>
              <a:srgbClr val="F3F5F9"/>
            </a:solidFill>
            <a:prstDash val="solid"/>
          </a:ln>
        </p:spPr>
      </p:sp>
      <p:pic>
        <p:nvPicPr>
          <p:cNvPr id="17" name="Image 3" descr="preencoded.png">    </p:cNvPr>
          <p:cNvPicPr>
            <a:picLocks noChangeAspect="1"/>
          </p:cNvPicPr>
          <p:nvPr/>
        </p:nvPicPr>
        <p:blipFill>
          <a:blip r:embed="rId4"/>
          <a:stretch>
            <a:fillRect/>
          </a:stretch>
        </p:blipFill>
        <p:spPr>
          <a:xfrm>
            <a:off x="594360" y="3145536"/>
            <a:ext cx="237744" cy="237744"/>
          </a:xfrm>
          <a:prstGeom prst="rect">
            <a:avLst/>
          </a:prstGeom>
        </p:spPr>
      </p:pic>
      <p:sp>
        <p:nvSpPr>
          <p:cNvPr id="18" name="Text 12"/>
          <p:cNvSpPr txBox="1"/>
          <p:nvPr/>
        </p:nvSpPr>
        <p:spPr>
          <a:xfrm>
            <a:off x="960120" y="3026664"/>
            <a:ext cx="2103120" cy="47548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Two requests, same key, same instant</a:t>
            </a:r>
            <a:endParaRPr lang="en-US" sz="1150" dirty="0"/>
          </a:p>
        </p:txBody>
      </p:sp>
      <p:sp>
        <p:nvSpPr>
          <p:cNvPr id="19" name="Text 13"/>
          <p:cNvSpPr txBox="1"/>
          <p:nvPr/>
        </p:nvSpPr>
        <p:spPr>
          <a:xfrm>
            <a:off x="3108960" y="3026664"/>
            <a:ext cx="2651760" cy="475488"/>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Second waits on the unique index, then replays</a:t>
            </a:r>
            <a:endParaRPr lang="en-US" sz="1100" dirty="0"/>
          </a:p>
        </p:txBody>
      </p:sp>
      <p:sp>
        <p:nvSpPr>
          <p:cNvPr id="20" name="Shape 14"/>
          <p:cNvSpPr/>
          <p:nvPr/>
        </p:nvSpPr>
        <p:spPr>
          <a:xfrm>
            <a:off x="457200" y="3593592"/>
            <a:ext cx="5394960" cy="475488"/>
          </a:xfrm>
          <a:prstGeom prst="roundRect">
            <a:avLst>
              <a:gd name="adj" fmla="val 15385"/>
            </a:avLst>
          </a:prstGeom>
          <a:solidFill>
            <a:srgbClr val="F3F5F9"/>
          </a:solidFill>
          <a:ln w="12700">
            <a:solidFill>
              <a:srgbClr val="F3F5F9"/>
            </a:solidFill>
            <a:prstDash val="solid"/>
          </a:ln>
        </p:spPr>
      </p:sp>
      <p:pic>
        <p:nvPicPr>
          <p:cNvPr id="21" name="Image 4" descr="preencoded.png">    </p:cNvPr>
          <p:cNvPicPr>
            <a:picLocks noChangeAspect="1"/>
          </p:cNvPicPr>
          <p:nvPr/>
        </p:nvPicPr>
        <p:blipFill>
          <a:blip r:embed="rId5"/>
          <a:stretch>
            <a:fillRect/>
          </a:stretch>
        </p:blipFill>
        <p:spPr>
          <a:xfrm>
            <a:off x="594360" y="3712464"/>
            <a:ext cx="237744" cy="237744"/>
          </a:xfrm>
          <a:prstGeom prst="rect">
            <a:avLst/>
          </a:prstGeom>
        </p:spPr>
      </p:pic>
      <p:sp>
        <p:nvSpPr>
          <p:cNvPr id="22" name="Text 15"/>
          <p:cNvSpPr txBox="1"/>
          <p:nvPr/>
        </p:nvSpPr>
        <p:spPr>
          <a:xfrm>
            <a:off x="960120" y="3593592"/>
            <a:ext cx="2103120" cy="47548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Server crashed mid-request</a:t>
            </a:r>
            <a:endParaRPr lang="en-US" sz="1150" dirty="0"/>
          </a:p>
        </p:txBody>
      </p:sp>
      <p:sp>
        <p:nvSpPr>
          <p:cNvPr id="23" name="Text 16"/>
          <p:cNvSpPr txBox="1"/>
          <p:nvPr/>
        </p:nvSpPr>
        <p:spPr>
          <a:xfrm>
            <a:off x="3108960" y="3593592"/>
            <a:ext cx="2651760" cy="475488"/>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Transaction rolled back, key released — retry is safe</a:t>
            </a:r>
            <a:endParaRPr lang="en-US" sz="1100" dirty="0"/>
          </a:p>
        </p:txBody>
      </p:sp>
      <p:sp>
        <p:nvSpPr>
          <p:cNvPr id="24" name="Shape 17"/>
          <p:cNvSpPr/>
          <p:nvPr/>
        </p:nvSpPr>
        <p:spPr>
          <a:xfrm>
            <a:off x="6126480" y="1325880"/>
            <a:ext cx="2560320" cy="2761488"/>
          </a:xfrm>
          <a:prstGeom prst="roundRect">
            <a:avLst>
              <a:gd name="adj" fmla="val 2857"/>
            </a:avLst>
          </a:prstGeom>
          <a:solidFill>
            <a:srgbClr val="0B1F3A"/>
          </a:solidFill>
          <a:ln w="12700">
            <a:solidFill>
              <a:srgbClr val="0B1F3A"/>
            </a:solidFill>
            <a:prstDash val="solid"/>
          </a:ln>
        </p:spPr>
      </p:sp>
      <p:sp>
        <p:nvSpPr>
          <p:cNvPr id="25" name="Text 18"/>
          <p:cNvSpPr txBox="1"/>
          <p:nvPr/>
        </p:nvSpPr>
        <p:spPr>
          <a:xfrm>
            <a:off x="6309360" y="1463040"/>
            <a:ext cx="219456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DESIGN</a:t>
            </a:r>
            <a:endParaRPr lang="en-US" sz="1000" dirty="0"/>
          </a:p>
        </p:txBody>
      </p:sp>
      <p:sp>
        <p:nvSpPr>
          <p:cNvPr id="26" name="Shape 19"/>
          <p:cNvSpPr/>
          <p:nvPr/>
        </p:nvSpPr>
        <p:spPr>
          <a:xfrm>
            <a:off x="6309360" y="1841627"/>
            <a:ext cx="64008" cy="64008"/>
          </a:xfrm>
          <a:prstGeom prst="ellipse">
            <a:avLst/>
          </a:prstGeom>
          <a:solidFill>
            <a:srgbClr val="D4A63A"/>
          </a:solidFill>
          <a:ln w="12700">
            <a:solidFill>
              <a:srgbClr val="D4A63A"/>
            </a:solidFill>
            <a:prstDash val="solid"/>
          </a:ln>
        </p:spPr>
      </p:sp>
      <p:sp>
        <p:nvSpPr>
          <p:cNvPr id="27" name="Text 20"/>
          <p:cNvSpPr txBox="1"/>
          <p:nvPr/>
        </p:nvSpPr>
        <p:spPr>
          <a:xfrm>
            <a:off x="6492240" y="1783080"/>
            <a:ext cx="2057400" cy="35636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Key scoped per customer: PK (sub, key)</a:t>
            </a:r>
            <a:endParaRPr lang="en-US" sz="1150" dirty="0"/>
          </a:p>
        </p:txBody>
      </p:sp>
      <p:sp>
        <p:nvSpPr>
          <p:cNvPr id="28" name="Shape 21"/>
          <p:cNvSpPr/>
          <p:nvPr/>
        </p:nvSpPr>
        <p:spPr>
          <a:xfrm>
            <a:off x="6309360" y="2307717"/>
            <a:ext cx="64008" cy="64008"/>
          </a:xfrm>
          <a:prstGeom prst="ellipse">
            <a:avLst/>
          </a:prstGeom>
          <a:solidFill>
            <a:srgbClr val="D4A63A"/>
          </a:solidFill>
          <a:ln w="12700">
            <a:solidFill>
              <a:srgbClr val="D4A63A"/>
            </a:solidFill>
            <a:prstDash val="solid"/>
          </a:ln>
        </p:spPr>
      </p:sp>
      <p:sp>
        <p:nvSpPr>
          <p:cNvPr id="29" name="Text 22"/>
          <p:cNvSpPr txBox="1"/>
          <p:nvPr/>
        </p:nvSpPr>
        <p:spPr>
          <a:xfrm>
            <a:off x="6492240" y="2249170"/>
            <a:ext cx="2057400" cy="35636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SHA-256 of canonical request body</a:t>
            </a:r>
            <a:endParaRPr lang="en-US" sz="1150" dirty="0"/>
          </a:p>
        </p:txBody>
      </p:sp>
      <p:sp>
        <p:nvSpPr>
          <p:cNvPr id="30" name="Shape 23"/>
          <p:cNvSpPr/>
          <p:nvPr/>
        </p:nvSpPr>
        <p:spPr>
          <a:xfrm>
            <a:off x="6309360" y="2773807"/>
            <a:ext cx="64008" cy="64008"/>
          </a:xfrm>
          <a:prstGeom prst="ellipse">
            <a:avLst/>
          </a:prstGeom>
          <a:solidFill>
            <a:srgbClr val="D4A63A"/>
          </a:solidFill>
          <a:ln w="12700">
            <a:solidFill>
              <a:srgbClr val="D4A63A"/>
            </a:solidFill>
            <a:prstDash val="solid"/>
          </a:ln>
        </p:spPr>
      </p:sp>
      <p:sp>
        <p:nvSpPr>
          <p:cNvPr id="31" name="Text 24"/>
          <p:cNvSpPr txBox="1"/>
          <p:nvPr/>
        </p:nvSpPr>
        <p:spPr>
          <a:xfrm>
            <a:off x="6492240" y="2715260"/>
            <a:ext cx="2057400" cy="534543"/>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Claimed and completed inside the transfer's own transaction</a:t>
            </a:r>
            <a:endParaRPr lang="en-US" sz="1150" dirty="0"/>
          </a:p>
        </p:txBody>
      </p:sp>
      <p:sp>
        <p:nvSpPr>
          <p:cNvPr id="32" name="Shape 25"/>
          <p:cNvSpPr/>
          <p:nvPr/>
        </p:nvSpPr>
        <p:spPr>
          <a:xfrm>
            <a:off x="6309360" y="3418078"/>
            <a:ext cx="64008" cy="64008"/>
          </a:xfrm>
          <a:prstGeom prst="ellipse">
            <a:avLst/>
          </a:prstGeom>
          <a:solidFill>
            <a:srgbClr val="D4A63A"/>
          </a:solidFill>
          <a:ln w="12700">
            <a:solidFill>
              <a:srgbClr val="D4A63A"/>
            </a:solidFill>
            <a:prstDash val="solid"/>
          </a:ln>
        </p:spPr>
      </p:sp>
      <p:sp>
        <p:nvSpPr>
          <p:cNvPr id="33" name="Text 26"/>
          <p:cNvSpPr txBox="1"/>
          <p:nvPr/>
        </p:nvSpPr>
        <p:spPr>
          <a:xfrm>
            <a:off x="6492240" y="3359531"/>
            <a:ext cx="2057400" cy="35636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NIP credits: session reference is the key</a:t>
            </a:r>
            <a:endParaRPr lang="en-US" sz="1150" dirty="0"/>
          </a:p>
        </p:txBody>
      </p:sp>
      <p:sp>
        <p:nvSpPr>
          <p:cNvPr id="34" name="Text 27"/>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200" i="1" dirty="0">
                <a:solidFill>
                  <a:srgbClr val="0B1F3A"/>
                </a:solidFill>
                <a:latin typeface="Calibri" pitchFamily="34" charset="0"/>
                <a:ea typeface="Calibri" pitchFamily="34" charset="-122"/>
                <a:cs typeface="Calibri" pitchFamily="34" charset="-120"/>
              </a:rPr>
              <a:t>Test: 50 simultaneous requests with one key → one transfer, 49 identical replays.</a:t>
            </a:r>
            <a:endParaRPr lang="en-US" sz="1200" dirty="0"/>
          </a:p>
        </p:txBody>
      </p:sp>
      <p:sp>
        <p:nvSpPr>
          <p:cNvPr id="35" name="Text 28"/>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36" name="Text 29"/>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CONTROLS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A daily limit and an audit trail you can't edit</a:t>
            </a:r>
            <a:endParaRPr lang="en-US" sz="2400" dirty="0"/>
          </a:p>
        </p:txBody>
      </p:sp>
      <p:sp>
        <p:nvSpPr>
          <p:cNvPr id="4" name="Shape 2"/>
          <p:cNvSpPr/>
          <p:nvPr/>
        </p:nvSpPr>
        <p:spPr>
          <a:xfrm>
            <a:off x="457200" y="1325880"/>
            <a:ext cx="3977640" cy="3291840"/>
          </a:xfrm>
          <a:prstGeom prst="roundRect">
            <a:avLst>
              <a:gd name="adj" fmla="val 2222"/>
            </a:avLst>
          </a:prstGeom>
          <a:solidFill>
            <a:srgbClr val="F3F5F9"/>
          </a:solidFill>
          <a:ln w="12700">
            <a:solidFill>
              <a:srgbClr val="F3F5F9"/>
            </a:solidFill>
            <a:prstDash val="solid"/>
          </a:ln>
        </p:spPr>
      </p:sp>
      <p:sp>
        <p:nvSpPr>
          <p:cNvPr id="5" name="Shape 3"/>
          <p:cNvSpPr/>
          <p:nvPr/>
        </p:nvSpPr>
        <p:spPr>
          <a:xfrm>
            <a:off x="640080" y="1463040"/>
            <a:ext cx="502920" cy="502920"/>
          </a:xfrm>
          <a:prstGeom prst="ellipse">
            <a:avLst/>
          </a:prstGeom>
          <a:solidFill>
            <a:srgbClr val="0B1F3A"/>
          </a:solidFill>
          <a:ln w="12700">
            <a:solidFill>
              <a:srgbClr val="0B1F3A"/>
            </a:solidFill>
            <a:prstDash val="solid"/>
          </a:ln>
        </p:spPr>
      </p:sp>
      <p:pic>
        <p:nvPicPr>
          <p:cNvPr id="6" name="Image 0" descr="preencoded.png">    </p:cNvPr>
          <p:cNvPicPr>
            <a:picLocks noChangeAspect="1"/>
          </p:cNvPicPr>
          <p:nvPr/>
        </p:nvPicPr>
        <p:blipFill>
          <a:blip r:embed="rId1"/>
          <a:stretch>
            <a:fillRect/>
          </a:stretch>
        </p:blipFill>
        <p:spPr>
          <a:xfrm>
            <a:off x="770839" y="1593799"/>
            <a:ext cx="241402" cy="241402"/>
          </a:xfrm>
          <a:prstGeom prst="rect">
            <a:avLst/>
          </a:prstGeom>
        </p:spPr>
      </p:pic>
      <p:sp>
        <p:nvSpPr>
          <p:cNvPr id="7" name="Text 4"/>
          <p:cNvSpPr txBox="1"/>
          <p:nvPr/>
        </p:nvSpPr>
        <p:spPr>
          <a:xfrm>
            <a:off x="1280160" y="1554480"/>
            <a:ext cx="3063240" cy="32004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₦500,000 / day, resets 00:00 WAT</a:t>
            </a:r>
            <a:endParaRPr lang="en-US" sz="1400" dirty="0"/>
          </a:p>
        </p:txBody>
      </p:sp>
      <p:sp>
        <p:nvSpPr>
          <p:cNvPr id="8" name="Shape 5"/>
          <p:cNvSpPr/>
          <p:nvPr/>
        </p:nvSpPr>
        <p:spPr>
          <a:xfrm>
            <a:off x="640080" y="2211324"/>
            <a:ext cx="64008" cy="64008"/>
          </a:xfrm>
          <a:prstGeom prst="ellipse">
            <a:avLst/>
          </a:prstGeom>
          <a:solidFill>
            <a:srgbClr val="D4A63A"/>
          </a:solidFill>
          <a:ln w="12700">
            <a:solidFill>
              <a:srgbClr val="D4A63A"/>
            </a:solidFill>
            <a:prstDash val="solid"/>
          </a:ln>
        </p:spPr>
      </p:sp>
      <p:sp>
        <p:nvSpPr>
          <p:cNvPr id="9" name="Text 6"/>
          <p:cNvSpPr txBox="1"/>
          <p:nvPr/>
        </p:nvSpPr>
        <p:spPr>
          <a:xfrm>
            <a:off x="822960" y="2148840"/>
            <a:ext cx="3429000" cy="371856"/>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Computed from the ledger (single source of truth), under the sender's row lock</a:t>
            </a:r>
            <a:endParaRPr lang="en-US" sz="1200" dirty="0"/>
          </a:p>
        </p:txBody>
      </p:sp>
      <p:sp>
        <p:nvSpPr>
          <p:cNvPr id="10" name="Shape 7"/>
          <p:cNvSpPr/>
          <p:nvPr/>
        </p:nvSpPr>
        <p:spPr>
          <a:xfrm>
            <a:off x="640080" y="2692908"/>
            <a:ext cx="64008" cy="64008"/>
          </a:xfrm>
          <a:prstGeom prst="ellipse">
            <a:avLst/>
          </a:prstGeom>
          <a:solidFill>
            <a:srgbClr val="D4A63A"/>
          </a:solidFill>
          <a:ln w="12700">
            <a:solidFill>
              <a:srgbClr val="D4A63A"/>
            </a:solidFill>
            <a:prstDash val="solid"/>
          </a:ln>
        </p:spPr>
      </p:sp>
      <p:sp>
        <p:nvSpPr>
          <p:cNvPr id="11" name="Text 8"/>
          <p:cNvSpPr txBox="1"/>
          <p:nvPr/>
        </p:nvSpPr>
        <p:spPr>
          <a:xfrm>
            <a:off x="822960" y="2630424"/>
            <a:ext cx="3429000" cy="185928"/>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WAT = fixed UTC+1 — no tzdata dependency</a:t>
            </a:r>
            <a:endParaRPr lang="en-US" sz="1200" dirty="0"/>
          </a:p>
        </p:txBody>
      </p:sp>
      <p:sp>
        <p:nvSpPr>
          <p:cNvPr id="12" name="Shape 9"/>
          <p:cNvSpPr/>
          <p:nvPr/>
        </p:nvSpPr>
        <p:spPr>
          <a:xfrm>
            <a:off x="640080" y="2988564"/>
            <a:ext cx="64008" cy="64008"/>
          </a:xfrm>
          <a:prstGeom prst="ellipse">
            <a:avLst/>
          </a:prstGeom>
          <a:solidFill>
            <a:srgbClr val="D4A63A"/>
          </a:solidFill>
          <a:ln w="12700">
            <a:solidFill>
              <a:srgbClr val="D4A63A"/>
            </a:solidFill>
            <a:prstDash val="solid"/>
          </a:ln>
        </p:spPr>
      </p:sp>
      <p:sp>
        <p:nvSpPr>
          <p:cNvPr id="13" name="Text 10"/>
          <p:cNvSpPr txBox="1"/>
          <p:nvPr/>
        </p:nvSpPr>
        <p:spPr>
          <a:xfrm>
            <a:off x="822960" y="2926080"/>
            <a:ext cx="3429000" cy="371856"/>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Injected TimeProvider: tests at 23:59:59 and 00:00 WAT</a:t>
            </a:r>
            <a:endParaRPr lang="en-US" sz="1200" dirty="0"/>
          </a:p>
        </p:txBody>
      </p:sp>
      <p:sp>
        <p:nvSpPr>
          <p:cNvPr id="14" name="Shape 11"/>
          <p:cNvSpPr/>
          <p:nvPr/>
        </p:nvSpPr>
        <p:spPr>
          <a:xfrm>
            <a:off x="640080" y="3470148"/>
            <a:ext cx="64008" cy="64008"/>
          </a:xfrm>
          <a:prstGeom prst="ellipse">
            <a:avLst/>
          </a:prstGeom>
          <a:solidFill>
            <a:srgbClr val="D4A63A"/>
          </a:solidFill>
          <a:ln w="12700">
            <a:solidFill>
              <a:srgbClr val="D4A63A"/>
            </a:solidFill>
            <a:prstDash val="solid"/>
          </a:ln>
        </p:spPr>
      </p:sp>
      <p:sp>
        <p:nvSpPr>
          <p:cNvPr id="15" name="Text 12"/>
          <p:cNvSpPr txBox="1"/>
          <p:nvPr/>
        </p:nvSpPr>
        <p:spPr>
          <a:xfrm>
            <a:off x="822960" y="3407664"/>
            <a:ext cx="3429000" cy="371856"/>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40 parallel ₦20k transfers → exactly 25 allowed</a:t>
            </a:r>
            <a:endParaRPr lang="en-US" sz="1200" dirty="0"/>
          </a:p>
        </p:txBody>
      </p:sp>
      <p:sp>
        <p:nvSpPr>
          <p:cNvPr id="16" name="Shape 13"/>
          <p:cNvSpPr/>
          <p:nvPr/>
        </p:nvSpPr>
        <p:spPr>
          <a:xfrm>
            <a:off x="4709160" y="1325880"/>
            <a:ext cx="3977640" cy="3291840"/>
          </a:xfrm>
          <a:prstGeom prst="roundRect">
            <a:avLst>
              <a:gd name="adj" fmla="val 2222"/>
            </a:avLst>
          </a:prstGeom>
          <a:solidFill>
            <a:srgbClr val="0B1F3A"/>
          </a:solidFill>
          <a:ln w="12700">
            <a:solidFill>
              <a:srgbClr val="0B1F3A"/>
            </a:solidFill>
            <a:prstDash val="solid"/>
          </a:ln>
        </p:spPr>
      </p:sp>
      <p:sp>
        <p:nvSpPr>
          <p:cNvPr id="17" name="Shape 14"/>
          <p:cNvSpPr/>
          <p:nvPr/>
        </p:nvSpPr>
        <p:spPr>
          <a:xfrm>
            <a:off x="4892040" y="1463040"/>
            <a:ext cx="502920" cy="502920"/>
          </a:xfrm>
          <a:prstGeom prst="ellipse">
            <a:avLst/>
          </a:prstGeom>
          <a:solidFill>
            <a:srgbClr val="D4A63A"/>
          </a:solidFill>
          <a:ln w="12700">
            <a:solidFill>
              <a:srgbClr val="D4A63A"/>
            </a:solidFill>
            <a:prstDash val="solid"/>
          </a:ln>
        </p:spPr>
      </p:sp>
      <p:pic>
        <p:nvPicPr>
          <p:cNvPr id="18" name="Image 1" descr="preencoded.png">    </p:cNvPr>
          <p:cNvPicPr>
            <a:picLocks noChangeAspect="1"/>
          </p:cNvPicPr>
          <p:nvPr/>
        </p:nvPicPr>
        <p:blipFill>
          <a:blip r:embed="rId2"/>
          <a:stretch>
            <a:fillRect/>
          </a:stretch>
        </p:blipFill>
        <p:spPr>
          <a:xfrm>
            <a:off x="5022799" y="1593799"/>
            <a:ext cx="241402" cy="241402"/>
          </a:xfrm>
          <a:prstGeom prst="rect">
            <a:avLst/>
          </a:prstGeom>
        </p:spPr>
      </p:pic>
      <p:sp>
        <p:nvSpPr>
          <p:cNvPr id="19" name="Text 15"/>
          <p:cNvSpPr txBox="1"/>
          <p:nvPr/>
        </p:nvSpPr>
        <p:spPr>
          <a:xfrm>
            <a:off x="5532120" y="1554480"/>
            <a:ext cx="306324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Append-only, hash-chained audit_log</a:t>
            </a:r>
            <a:endParaRPr lang="en-US" sz="1400" dirty="0"/>
          </a:p>
        </p:txBody>
      </p:sp>
      <p:sp>
        <p:nvSpPr>
          <p:cNvPr id="20" name="Shape 16"/>
          <p:cNvSpPr/>
          <p:nvPr/>
        </p:nvSpPr>
        <p:spPr>
          <a:xfrm>
            <a:off x="4892040" y="2211324"/>
            <a:ext cx="64008" cy="64008"/>
          </a:xfrm>
          <a:prstGeom prst="ellipse">
            <a:avLst/>
          </a:prstGeom>
          <a:solidFill>
            <a:srgbClr val="D4A63A"/>
          </a:solidFill>
          <a:ln w="12700">
            <a:solidFill>
              <a:srgbClr val="D4A63A"/>
            </a:solidFill>
            <a:prstDash val="solid"/>
          </a:ln>
        </p:spPr>
      </p:sp>
      <p:sp>
        <p:nvSpPr>
          <p:cNvPr id="21" name="Text 17"/>
          <p:cNvSpPr txBox="1"/>
          <p:nvPr/>
        </p:nvSpPr>
        <p:spPr>
          <a:xfrm>
            <a:off x="5074920" y="2148840"/>
            <a:ext cx="34290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row per balance mutation: before, delta, after, actor, correlation ID</a:t>
            </a:r>
            <a:endParaRPr lang="en-US" sz="1200" dirty="0"/>
          </a:p>
        </p:txBody>
      </p:sp>
      <p:sp>
        <p:nvSpPr>
          <p:cNvPr id="22" name="Shape 18"/>
          <p:cNvSpPr/>
          <p:nvPr/>
        </p:nvSpPr>
        <p:spPr>
          <a:xfrm>
            <a:off x="4892040" y="2692908"/>
            <a:ext cx="64008" cy="64008"/>
          </a:xfrm>
          <a:prstGeom prst="ellipse">
            <a:avLst/>
          </a:prstGeom>
          <a:solidFill>
            <a:srgbClr val="D4A63A"/>
          </a:solidFill>
          <a:ln w="12700">
            <a:solidFill>
              <a:srgbClr val="D4A63A"/>
            </a:solidFill>
            <a:prstDash val="solid"/>
          </a:ln>
        </p:spPr>
      </p:sp>
      <p:sp>
        <p:nvSpPr>
          <p:cNvPr id="23" name="Text 19"/>
          <p:cNvSpPr txBox="1"/>
          <p:nvPr/>
        </p:nvSpPr>
        <p:spPr>
          <a:xfrm>
            <a:off x="5074920" y="2630424"/>
            <a:ext cx="34290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DB triggers reject UPDATE / DELETE / TRUNCATE</a:t>
            </a:r>
            <a:endParaRPr lang="en-US" sz="1200" dirty="0"/>
          </a:p>
        </p:txBody>
      </p:sp>
      <p:sp>
        <p:nvSpPr>
          <p:cNvPr id="24" name="Shape 20"/>
          <p:cNvSpPr/>
          <p:nvPr/>
        </p:nvSpPr>
        <p:spPr>
          <a:xfrm>
            <a:off x="4892040" y="3174492"/>
            <a:ext cx="64008" cy="64008"/>
          </a:xfrm>
          <a:prstGeom prst="ellipse">
            <a:avLst/>
          </a:prstGeom>
          <a:solidFill>
            <a:srgbClr val="D4A63A"/>
          </a:solidFill>
          <a:ln w="12700">
            <a:solidFill>
              <a:srgbClr val="D4A63A"/>
            </a:solidFill>
            <a:prstDash val="solid"/>
          </a:ln>
        </p:spPr>
      </p:sp>
      <p:sp>
        <p:nvSpPr>
          <p:cNvPr id="25" name="Text 21"/>
          <p:cNvSpPr txBox="1"/>
          <p:nvPr/>
        </p:nvSpPr>
        <p:spPr>
          <a:xfrm>
            <a:off x="5074920" y="3112008"/>
            <a:ext cx="34290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Per-wallet SHA-256 chain → GET /audit returns chainIntact</a:t>
            </a:r>
            <a:endParaRPr lang="en-US" sz="1200" dirty="0"/>
          </a:p>
        </p:txBody>
      </p:sp>
      <p:sp>
        <p:nvSpPr>
          <p:cNvPr id="26" name="Shape 22"/>
          <p:cNvSpPr/>
          <p:nvPr/>
        </p:nvSpPr>
        <p:spPr>
          <a:xfrm>
            <a:off x="4892040" y="3656076"/>
            <a:ext cx="64008" cy="64008"/>
          </a:xfrm>
          <a:prstGeom prst="ellipse">
            <a:avLst/>
          </a:prstGeom>
          <a:solidFill>
            <a:srgbClr val="D4A63A"/>
          </a:solidFill>
          <a:ln w="12700">
            <a:solidFill>
              <a:srgbClr val="D4A63A"/>
            </a:solidFill>
            <a:prstDash val="solid"/>
          </a:ln>
        </p:spPr>
      </p:sp>
      <p:sp>
        <p:nvSpPr>
          <p:cNvPr id="27" name="Text 23"/>
          <p:cNvSpPr txBox="1"/>
          <p:nvPr/>
        </p:nvSpPr>
        <p:spPr>
          <a:xfrm>
            <a:off x="5074920" y="3593592"/>
            <a:ext cx="34290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Timestamps truncated to µs so hashes survive the Postgres round trip</a:t>
            </a:r>
            <a:endParaRPr lang="en-US" sz="1200" dirty="0"/>
          </a:p>
        </p:txBody>
      </p:sp>
      <p:sp>
        <p:nvSpPr>
          <p:cNvPr id="28" name="Text 24"/>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29" name="Text 25"/>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SECURITY &amp; NIGERIAN CONTEXT</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Built for where it would actually run</a:t>
            </a:r>
            <a:endParaRPr lang="en-US" sz="2400" dirty="0"/>
          </a:p>
        </p:txBody>
      </p:sp>
      <p:sp>
        <p:nvSpPr>
          <p:cNvPr id="4" name="Shape 2"/>
          <p:cNvSpPr/>
          <p:nvPr/>
        </p:nvSpPr>
        <p:spPr>
          <a:xfrm>
            <a:off x="457200" y="1325880"/>
            <a:ext cx="2606040" cy="1554480"/>
          </a:xfrm>
          <a:prstGeom prst="roundRect">
            <a:avLst>
              <a:gd name="adj" fmla="val 4706"/>
            </a:avLst>
          </a:prstGeom>
          <a:solidFill>
            <a:srgbClr val="F3F5F9"/>
          </a:solidFill>
          <a:ln w="12700">
            <a:solidFill>
              <a:srgbClr val="F3F5F9"/>
            </a:solidFill>
            <a:prstDash val="solid"/>
          </a:ln>
        </p:spPr>
      </p:sp>
      <p:sp>
        <p:nvSpPr>
          <p:cNvPr id="5" name="Shape 3"/>
          <p:cNvSpPr/>
          <p:nvPr/>
        </p:nvSpPr>
        <p:spPr>
          <a:xfrm>
            <a:off x="594360" y="1463040"/>
            <a:ext cx="411480" cy="411480"/>
          </a:xfrm>
          <a:prstGeom prst="ellipse">
            <a:avLst/>
          </a:prstGeom>
          <a:solidFill>
            <a:srgbClr val="0B1F3A"/>
          </a:solidFill>
          <a:ln w="12700">
            <a:solidFill>
              <a:srgbClr val="0B1F3A"/>
            </a:solidFill>
            <a:prstDash val="solid"/>
          </a:ln>
        </p:spPr>
      </p:sp>
      <p:pic>
        <p:nvPicPr>
          <p:cNvPr id="6" name="Image 0" descr="preencoded.png">    </p:cNvPr>
          <p:cNvPicPr>
            <a:picLocks noChangeAspect="1"/>
          </p:cNvPicPr>
          <p:nvPr/>
        </p:nvPicPr>
        <p:blipFill>
          <a:blip r:embed="rId1"/>
          <a:stretch>
            <a:fillRect/>
          </a:stretch>
        </p:blipFill>
        <p:spPr>
          <a:xfrm>
            <a:off x="701345" y="1570025"/>
            <a:ext cx="197510" cy="197510"/>
          </a:xfrm>
          <a:prstGeom prst="rect">
            <a:avLst/>
          </a:prstGeom>
        </p:spPr>
      </p:pic>
      <p:sp>
        <p:nvSpPr>
          <p:cNvPr id="7" name="Text 4"/>
          <p:cNvSpPr txBox="1"/>
          <p:nvPr/>
        </p:nvSpPr>
        <p:spPr>
          <a:xfrm>
            <a:off x="1115568" y="1508760"/>
            <a:ext cx="18288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Auth</a:t>
            </a:r>
            <a:endParaRPr lang="en-US" sz="1300" dirty="0"/>
          </a:p>
        </p:txBody>
      </p:sp>
      <p:sp>
        <p:nvSpPr>
          <p:cNvPr id="8" name="Text 5"/>
          <p:cNvSpPr txBox="1"/>
          <p:nvPr/>
        </p:nvSpPr>
        <p:spPr>
          <a:xfrm>
            <a:off x="594360" y="1984248"/>
            <a:ext cx="2359152" cy="868680"/>
          </a:xfrm>
          <a:prstGeom prst="rect">
            <a:avLst/>
          </a:prstGeom>
          <a:noFill/>
          <a:ln/>
        </p:spPr>
        <p:txBody>
          <a:bodyPr wrap="square" lIns="0" tIns="0" rIns="0" bIns="0" rtlCol="0" anchor="t"/>
          <a:lstStyle/>
          <a:p>
            <a:pPr indent="0" marL="0">
              <a:buNone/>
            </a:pPr>
            <a:r>
              <a:rPr lang="en-US" sz="1000" dirty="0">
                <a:solidFill>
                  <a:srgbClr val="1B2430"/>
                </a:solidFill>
                <a:latin typeface="Calibri" pitchFamily="34" charset="0"/>
                <a:ea typeface="Calibri" pitchFamily="34" charset="-122"/>
                <a:cs typeface="Calibri" pitchFamily="34" charset="-120"/>
              </a:rPr>
              <a:t>JWT: issuer, audience, lifetime checked; HS256 pinned (alg:none rejected); fallback policy = authenticated; operator role for credits &amp; audit</a:t>
            </a:r>
            <a:endParaRPr lang="en-US" sz="1000" dirty="0"/>
          </a:p>
        </p:txBody>
      </p:sp>
      <p:sp>
        <p:nvSpPr>
          <p:cNvPr id="9" name="Shape 6"/>
          <p:cNvSpPr/>
          <p:nvPr/>
        </p:nvSpPr>
        <p:spPr>
          <a:xfrm>
            <a:off x="3246120" y="1325880"/>
            <a:ext cx="2606040" cy="1554480"/>
          </a:xfrm>
          <a:prstGeom prst="roundRect">
            <a:avLst>
              <a:gd name="adj" fmla="val 4706"/>
            </a:avLst>
          </a:prstGeom>
          <a:solidFill>
            <a:srgbClr val="F3F5F9"/>
          </a:solidFill>
          <a:ln w="12700">
            <a:solidFill>
              <a:srgbClr val="F3F5F9"/>
            </a:solidFill>
            <a:prstDash val="solid"/>
          </a:ln>
        </p:spPr>
      </p:sp>
      <p:sp>
        <p:nvSpPr>
          <p:cNvPr id="10" name="Shape 7"/>
          <p:cNvSpPr/>
          <p:nvPr/>
        </p:nvSpPr>
        <p:spPr>
          <a:xfrm>
            <a:off x="3383280" y="1463040"/>
            <a:ext cx="411480" cy="411480"/>
          </a:xfrm>
          <a:prstGeom prst="ellipse">
            <a:avLst/>
          </a:prstGeom>
          <a:solidFill>
            <a:srgbClr val="0B1F3A"/>
          </a:solidFill>
          <a:ln w="12700">
            <a:solidFill>
              <a:srgbClr val="0B1F3A"/>
            </a:solidFill>
            <a:prstDash val="solid"/>
          </a:ln>
        </p:spPr>
      </p:sp>
      <p:pic>
        <p:nvPicPr>
          <p:cNvPr id="11" name="Image 1" descr="preencoded.png">    </p:cNvPr>
          <p:cNvPicPr>
            <a:picLocks noChangeAspect="1"/>
          </p:cNvPicPr>
          <p:nvPr/>
        </p:nvPicPr>
        <p:blipFill>
          <a:blip r:embed="rId2"/>
          <a:stretch>
            <a:fillRect/>
          </a:stretch>
        </p:blipFill>
        <p:spPr>
          <a:xfrm>
            <a:off x="3490265" y="1570025"/>
            <a:ext cx="197510" cy="197510"/>
          </a:xfrm>
          <a:prstGeom prst="rect">
            <a:avLst/>
          </a:prstGeom>
        </p:spPr>
      </p:pic>
      <p:sp>
        <p:nvSpPr>
          <p:cNvPr id="12" name="Text 8"/>
          <p:cNvSpPr txBox="1"/>
          <p:nvPr/>
        </p:nvSpPr>
        <p:spPr>
          <a:xfrm>
            <a:off x="3904488" y="1508760"/>
            <a:ext cx="18288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No probing</a:t>
            </a:r>
            <a:endParaRPr lang="en-US" sz="1300" dirty="0"/>
          </a:p>
        </p:txBody>
      </p:sp>
      <p:sp>
        <p:nvSpPr>
          <p:cNvPr id="13" name="Text 9"/>
          <p:cNvSpPr txBox="1"/>
          <p:nvPr/>
        </p:nvSpPr>
        <p:spPr>
          <a:xfrm>
            <a:off x="3383280" y="1984248"/>
            <a:ext cx="2359152" cy="868680"/>
          </a:xfrm>
          <a:prstGeom prst="rect">
            <a:avLst/>
          </a:prstGeom>
          <a:noFill/>
          <a:ln/>
        </p:spPr>
        <p:txBody>
          <a:bodyPr wrap="square" lIns="0" tIns="0" rIns="0" bIns="0" rtlCol="0" anchor="t"/>
          <a:lstStyle/>
          <a:p>
            <a:pPr indent="0" marL="0">
              <a:buNone/>
            </a:pPr>
            <a:r>
              <a:rPr lang="en-US" sz="1000" dirty="0">
                <a:solidFill>
                  <a:srgbClr val="1B2430"/>
                </a:solidFill>
                <a:latin typeface="Calibri" pitchFamily="34" charset="0"/>
                <a:ea typeface="Calibri" pitchFamily="34" charset="-122"/>
                <a:cs typeface="Calibri" pitchFamily="34" charset="-120"/>
              </a:rPr>
              <a:t>Other customers' wallets return 404; receipts show only the sender's balance</a:t>
            </a:r>
            <a:endParaRPr lang="en-US" sz="1000" dirty="0"/>
          </a:p>
        </p:txBody>
      </p:sp>
      <p:sp>
        <p:nvSpPr>
          <p:cNvPr id="14" name="Shape 10"/>
          <p:cNvSpPr/>
          <p:nvPr/>
        </p:nvSpPr>
        <p:spPr>
          <a:xfrm>
            <a:off x="6035040" y="1325880"/>
            <a:ext cx="2606040" cy="1554480"/>
          </a:xfrm>
          <a:prstGeom prst="roundRect">
            <a:avLst>
              <a:gd name="adj" fmla="val 4706"/>
            </a:avLst>
          </a:prstGeom>
          <a:solidFill>
            <a:srgbClr val="F3F5F9"/>
          </a:solidFill>
          <a:ln w="12700">
            <a:solidFill>
              <a:srgbClr val="F3F5F9"/>
            </a:solidFill>
            <a:prstDash val="solid"/>
          </a:ln>
        </p:spPr>
      </p:sp>
      <p:sp>
        <p:nvSpPr>
          <p:cNvPr id="15" name="Shape 11"/>
          <p:cNvSpPr/>
          <p:nvPr/>
        </p:nvSpPr>
        <p:spPr>
          <a:xfrm>
            <a:off x="6172200" y="1463040"/>
            <a:ext cx="411480" cy="411480"/>
          </a:xfrm>
          <a:prstGeom prst="ellipse">
            <a:avLst/>
          </a:prstGeom>
          <a:solidFill>
            <a:srgbClr val="0B1F3A"/>
          </a:solidFill>
          <a:ln w="12700">
            <a:solidFill>
              <a:srgbClr val="0B1F3A"/>
            </a:solidFill>
            <a:prstDash val="solid"/>
          </a:ln>
        </p:spPr>
      </p:sp>
      <p:pic>
        <p:nvPicPr>
          <p:cNvPr id="16" name="Image 2" descr="preencoded.png">    </p:cNvPr>
          <p:cNvPicPr>
            <a:picLocks noChangeAspect="1"/>
          </p:cNvPicPr>
          <p:nvPr/>
        </p:nvPicPr>
        <p:blipFill>
          <a:blip r:embed="rId3"/>
          <a:stretch>
            <a:fillRect/>
          </a:stretch>
        </p:blipFill>
        <p:spPr>
          <a:xfrm>
            <a:off x="6279185" y="1570025"/>
            <a:ext cx="197510" cy="197510"/>
          </a:xfrm>
          <a:prstGeom prst="rect">
            <a:avLst/>
          </a:prstGeom>
        </p:spPr>
      </p:pic>
      <p:sp>
        <p:nvSpPr>
          <p:cNvPr id="17" name="Text 12"/>
          <p:cNvSpPr txBox="1"/>
          <p:nvPr/>
        </p:nvSpPr>
        <p:spPr>
          <a:xfrm>
            <a:off x="6693408" y="1508760"/>
            <a:ext cx="18288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Input</a:t>
            </a:r>
            <a:endParaRPr lang="en-US" sz="1300" dirty="0"/>
          </a:p>
        </p:txBody>
      </p:sp>
      <p:sp>
        <p:nvSpPr>
          <p:cNvPr id="18" name="Text 13"/>
          <p:cNvSpPr txBox="1"/>
          <p:nvPr/>
        </p:nvSpPr>
        <p:spPr>
          <a:xfrm>
            <a:off x="6172200" y="1984248"/>
            <a:ext cx="2359152" cy="868680"/>
          </a:xfrm>
          <a:prstGeom prst="rect">
            <a:avLst/>
          </a:prstGeom>
          <a:noFill/>
          <a:ln/>
        </p:spPr>
        <p:txBody>
          <a:bodyPr wrap="square" lIns="0" tIns="0" rIns="0" bIns="0" rtlCol="0" anchor="t"/>
          <a:lstStyle/>
          <a:p>
            <a:pPr indent="0" marL="0">
              <a:buNone/>
            </a:pPr>
            <a:r>
              <a:rPr lang="en-US" sz="1000" dirty="0">
                <a:solidFill>
                  <a:srgbClr val="1B2430"/>
                </a:solidFill>
                <a:latin typeface="Calibri" pitchFamily="34" charset="0"/>
                <a:ea typeface="Calibri" pitchFamily="34" charset="-122"/>
                <a:cs typeface="Calibri" pitchFamily="34" charset="-120"/>
              </a:rPr>
              <a:t>Strict JSON (100.5 or "100" refused), unknown fields rejected, safe-charset keys &amp; IDs (no log injection)</a:t>
            </a:r>
            <a:endParaRPr lang="en-US" sz="1000" dirty="0"/>
          </a:p>
        </p:txBody>
      </p:sp>
      <p:sp>
        <p:nvSpPr>
          <p:cNvPr id="19" name="Shape 14"/>
          <p:cNvSpPr/>
          <p:nvPr/>
        </p:nvSpPr>
        <p:spPr>
          <a:xfrm>
            <a:off x="457200" y="3017520"/>
            <a:ext cx="2606040" cy="1554480"/>
          </a:xfrm>
          <a:prstGeom prst="roundRect">
            <a:avLst>
              <a:gd name="adj" fmla="val 4706"/>
            </a:avLst>
          </a:prstGeom>
          <a:solidFill>
            <a:srgbClr val="F3F5F9"/>
          </a:solidFill>
          <a:ln w="12700">
            <a:solidFill>
              <a:srgbClr val="F3F5F9"/>
            </a:solidFill>
            <a:prstDash val="solid"/>
          </a:ln>
        </p:spPr>
      </p:sp>
      <p:sp>
        <p:nvSpPr>
          <p:cNvPr id="20" name="Shape 15"/>
          <p:cNvSpPr/>
          <p:nvPr/>
        </p:nvSpPr>
        <p:spPr>
          <a:xfrm>
            <a:off x="594360" y="3154680"/>
            <a:ext cx="411480" cy="411480"/>
          </a:xfrm>
          <a:prstGeom prst="ellipse">
            <a:avLst/>
          </a:prstGeom>
          <a:solidFill>
            <a:srgbClr val="0B1F3A"/>
          </a:solidFill>
          <a:ln w="12700">
            <a:solidFill>
              <a:srgbClr val="0B1F3A"/>
            </a:solidFill>
            <a:prstDash val="solid"/>
          </a:ln>
        </p:spPr>
      </p:sp>
      <p:pic>
        <p:nvPicPr>
          <p:cNvPr id="21" name="Image 3" descr="preencoded.png">    </p:cNvPr>
          <p:cNvPicPr>
            <a:picLocks noChangeAspect="1"/>
          </p:cNvPicPr>
          <p:nvPr/>
        </p:nvPicPr>
        <p:blipFill>
          <a:blip r:embed="rId4"/>
          <a:stretch>
            <a:fillRect/>
          </a:stretch>
        </p:blipFill>
        <p:spPr>
          <a:xfrm>
            <a:off x="701345" y="3261665"/>
            <a:ext cx="197510" cy="197510"/>
          </a:xfrm>
          <a:prstGeom prst="rect">
            <a:avLst/>
          </a:prstGeom>
        </p:spPr>
      </p:pic>
      <p:sp>
        <p:nvSpPr>
          <p:cNvPr id="22" name="Text 16"/>
          <p:cNvSpPr txBox="1"/>
          <p:nvPr/>
        </p:nvSpPr>
        <p:spPr>
          <a:xfrm>
            <a:off x="1115568" y="3200400"/>
            <a:ext cx="18288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NDPA 2023</a:t>
            </a:r>
            <a:endParaRPr lang="en-US" sz="1300" dirty="0"/>
          </a:p>
        </p:txBody>
      </p:sp>
      <p:sp>
        <p:nvSpPr>
          <p:cNvPr id="23" name="Text 17"/>
          <p:cNvSpPr txBox="1"/>
          <p:nvPr/>
        </p:nvSpPr>
        <p:spPr>
          <a:xfrm>
            <a:off x="594360" y="3675888"/>
            <a:ext cx="2359152" cy="868680"/>
          </a:xfrm>
          <a:prstGeom prst="rect">
            <a:avLst/>
          </a:prstGeom>
          <a:noFill/>
          <a:ln/>
        </p:spPr>
        <p:txBody>
          <a:bodyPr wrap="square" lIns="0" tIns="0" rIns="0" bIns="0" rtlCol="0" anchor="t"/>
          <a:lstStyle/>
          <a:p>
            <a:pPr indent="0" marL="0">
              <a:buNone/>
            </a:pPr>
            <a:r>
              <a:rPr lang="en-US" sz="1000" dirty="0">
                <a:solidFill>
                  <a:srgbClr val="1B2430"/>
                </a:solidFill>
                <a:latin typeface="Calibri" pitchFamily="34" charset="0"/>
                <a:ea typeface="Calibri" pitchFamily="34" charset="-122"/>
                <a:cs typeface="Calibri" pitchFamily="34" charset="-120"/>
              </a:rPr>
              <a:t>No BVN/NIN/names stored — opaque customer ID; request bodies never logged</a:t>
            </a:r>
            <a:endParaRPr lang="en-US" sz="1000" dirty="0"/>
          </a:p>
        </p:txBody>
      </p:sp>
      <p:sp>
        <p:nvSpPr>
          <p:cNvPr id="24" name="Shape 18"/>
          <p:cNvSpPr/>
          <p:nvPr/>
        </p:nvSpPr>
        <p:spPr>
          <a:xfrm>
            <a:off x="3246120" y="3017520"/>
            <a:ext cx="2606040" cy="1554480"/>
          </a:xfrm>
          <a:prstGeom prst="roundRect">
            <a:avLst>
              <a:gd name="adj" fmla="val 4706"/>
            </a:avLst>
          </a:prstGeom>
          <a:solidFill>
            <a:srgbClr val="F3F5F9"/>
          </a:solidFill>
          <a:ln w="12700">
            <a:solidFill>
              <a:srgbClr val="F3F5F9"/>
            </a:solidFill>
            <a:prstDash val="solid"/>
          </a:ln>
        </p:spPr>
      </p:sp>
      <p:sp>
        <p:nvSpPr>
          <p:cNvPr id="25" name="Shape 19"/>
          <p:cNvSpPr/>
          <p:nvPr/>
        </p:nvSpPr>
        <p:spPr>
          <a:xfrm>
            <a:off x="3383280" y="3154680"/>
            <a:ext cx="411480" cy="411480"/>
          </a:xfrm>
          <a:prstGeom prst="ellipse">
            <a:avLst/>
          </a:prstGeom>
          <a:solidFill>
            <a:srgbClr val="0B1F3A"/>
          </a:solidFill>
          <a:ln w="12700">
            <a:solidFill>
              <a:srgbClr val="0B1F3A"/>
            </a:solidFill>
            <a:prstDash val="solid"/>
          </a:ln>
        </p:spPr>
      </p:sp>
      <p:pic>
        <p:nvPicPr>
          <p:cNvPr id="26" name="Image 4" descr="preencoded.png">    </p:cNvPr>
          <p:cNvPicPr>
            <a:picLocks noChangeAspect="1"/>
          </p:cNvPicPr>
          <p:nvPr/>
        </p:nvPicPr>
        <p:blipFill>
          <a:blip r:embed="rId5"/>
          <a:stretch>
            <a:fillRect/>
          </a:stretch>
        </p:blipFill>
        <p:spPr>
          <a:xfrm>
            <a:off x="3490265" y="3261665"/>
            <a:ext cx="197510" cy="197510"/>
          </a:xfrm>
          <a:prstGeom prst="rect">
            <a:avLst/>
          </a:prstGeom>
        </p:spPr>
      </p:pic>
      <p:sp>
        <p:nvSpPr>
          <p:cNvPr id="27" name="Text 20"/>
          <p:cNvSpPr txBox="1"/>
          <p:nvPr/>
        </p:nvSpPr>
        <p:spPr>
          <a:xfrm>
            <a:off x="3904488" y="3200400"/>
            <a:ext cx="18288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USSD &amp; NIP</a:t>
            </a:r>
            <a:endParaRPr lang="en-US" sz="1300" dirty="0"/>
          </a:p>
        </p:txBody>
      </p:sp>
      <p:sp>
        <p:nvSpPr>
          <p:cNvPr id="28" name="Text 21"/>
          <p:cNvSpPr txBox="1"/>
          <p:nvPr/>
        </p:nvSpPr>
        <p:spPr>
          <a:xfrm>
            <a:off x="3383280" y="3675888"/>
            <a:ext cx="2359152" cy="868680"/>
          </a:xfrm>
          <a:prstGeom prst="rect">
            <a:avLst/>
          </a:prstGeom>
          <a:noFill/>
          <a:ln/>
        </p:spPr>
        <p:txBody>
          <a:bodyPr wrap="square" lIns="0" tIns="0" rIns="0" bIns="0" rtlCol="0" anchor="t"/>
          <a:lstStyle/>
          <a:p>
            <a:pPr indent="0" marL="0">
              <a:buNone/>
            </a:pPr>
            <a:r>
              <a:rPr lang="en-US" sz="1000" dirty="0">
                <a:solidFill>
                  <a:srgbClr val="1B2430"/>
                </a:solidFill>
                <a:latin typeface="Calibri" pitchFamily="34" charset="0"/>
                <a:ea typeface="Calibri" pitchFamily="34" charset="-122"/>
                <a:cs typeface="Calibri" pitchFamily="34" charset="-120"/>
              </a:rPr>
              <a:t>Retries made harmless by idempotency; NIP session ID de-duplicates credits; gateway can pass X-Correlation-ID</a:t>
            </a:r>
            <a:endParaRPr lang="en-US" sz="1000" dirty="0"/>
          </a:p>
        </p:txBody>
      </p:sp>
      <p:sp>
        <p:nvSpPr>
          <p:cNvPr id="29" name="Shape 22"/>
          <p:cNvSpPr/>
          <p:nvPr/>
        </p:nvSpPr>
        <p:spPr>
          <a:xfrm>
            <a:off x="6035040" y="3017520"/>
            <a:ext cx="2606040" cy="1554480"/>
          </a:xfrm>
          <a:prstGeom prst="roundRect">
            <a:avLst>
              <a:gd name="adj" fmla="val 4706"/>
            </a:avLst>
          </a:prstGeom>
          <a:solidFill>
            <a:srgbClr val="F3F5F9"/>
          </a:solidFill>
          <a:ln w="12700">
            <a:solidFill>
              <a:srgbClr val="F3F5F9"/>
            </a:solidFill>
            <a:prstDash val="solid"/>
          </a:ln>
        </p:spPr>
      </p:sp>
      <p:sp>
        <p:nvSpPr>
          <p:cNvPr id="30" name="Shape 23"/>
          <p:cNvSpPr/>
          <p:nvPr/>
        </p:nvSpPr>
        <p:spPr>
          <a:xfrm>
            <a:off x="6172200" y="3154680"/>
            <a:ext cx="411480" cy="411480"/>
          </a:xfrm>
          <a:prstGeom prst="ellipse">
            <a:avLst/>
          </a:prstGeom>
          <a:solidFill>
            <a:srgbClr val="0B1F3A"/>
          </a:solidFill>
          <a:ln w="12700">
            <a:solidFill>
              <a:srgbClr val="0B1F3A"/>
            </a:solidFill>
            <a:prstDash val="solid"/>
          </a:ln>
        </p:spPr>
      </p:sp>
      <p:pic>
        <p:nvPicPr>
          <p:cNvPr id="31" name="Image 5" descr="preencoded.png">    </p:cNvPr>
          <p:cNvPicPr>
            <a:picLocks noChangeAspect="1"/>
          </p:cNvPicPr>
          <p:nvPr/>
        </p:nvPicPr>
        <p:blipFill>
          <a:blip r:embed="rId6"/>
          <a:stretch>
            <a:fillRect/>
          </a:stretch>
        </p:blipFill>
        <p:spPr>
          <a:xfrm>
            <a:off x="6279185" y="3261665"/>
            <a:ext cx="197510" cy="197510"/>
          </a:xfrm>
          <a:prstGeom prst="rect">
            <a:avLst/>
          </a:prstGeom>
        </p:spPr>
      </p:pic>
      <p:sp>
        <p:nvSpPr>
          <p:cNvPr id="32" name="Text 24"/>
          <p:cNvSpPr txBox="1"/>
          <p:nvPr/>
        </p:nvSpPr>
        <p:spPr>
          <a:xfrm>
            <a:off x="6693408" y="3200400"/>
            <a:ext cx="18288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CBN &amp; abuse</a:t>
            </a:r>
            <a:endParaRPr lang="en-US" sz="1300" dirty="0"/>
          </a:p>
        </p:txBody>
      </p:sp>
      <p:sp>
        <p:nvSpPr>
          <p:cNvPr id="33" name="Text 25"/>
          <p:cNvSpPr txBox="1"/>
          <p:nvPr/>
        </p:nvSpPr>
        <p:spPr>
          <a:xfrm>
            <a:off x="6172200" y="3675888"/>
            <a:ext cx="2359152" cy="868680"/>
          </a:xfrm>
          <a:prstGeom prst="rect">
            <a:avLst/>
          </a:prstGeom>
          <a:noFill/>
          <a:ln/>
        </p:spPr>
        <p:txBody>
          <a:bodyPr wrap="square" lIns="0" tIns="0" rIns="0" bIns="0" rtlCol="0" anchor="t"/>
          <a:lstStyle/>
          <a:p>
            <a:pPr indent="0" marL="0">
              <a:buNone/>
            </a:pPr>
            <a:r>
              <a:rPr lang="en-US" sz="1000" dirty="0">
                <a:solidFill>
                  <a:srgbClr val="1B2430"/>
                </a:solidFill>
                <a:latin typeface="Calibri" pitchFamily="34" charset="0"/>
                <a:ea typeface="Calibri" pitchFamily="34" charset="-122"/>
                <a:cs typeface="Calibri" pitchFamily="34" charset="-120"/>
              </a:rPr>
              <a:t>Per-customer rate limit (429 + Retry-After); configurable daily limit; tiered-KYC limits are next</a:t>
            </a:r>
            <a:endParaRPr lang="en-US" sz="1000" dirty="0"/>
          </a:p>
        </p:txBody>
      </p:sp>
      <p:sp>
        <p:nvSpPr>
          <p:cNvPr id="34" name="Text 26"/>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35" name="Text 27"/>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EVIDENCE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tests fail when the safety is removed</a:t>
            </a:r>
            <a:endParaRPr lang="en-US" sz="2400" dirty="0"/>
          </a:p>
        </p:txBody>
      </p:sp>
      <p:graphicFrame>
        <p:nvGraphicFramePr>
          <p:cNvPr id="4" name="Chart 0" descr=""/>
          <p:cNvGraphicFramePr/>
          <p:nvPr/>
        </p:nvGraphicFramePr>
        <p:xfrm>
          <a:off x="365760" y="1234440"/>
          <a:ext cx="4846320" cy="3429000"/>
        </p:xfrm>
        <a:graphic xmlns:a="http://schemas.openxmlformats.org/drawingml/2006/main">
          <a:graphicData uri="http://schemas.openxmlformats.org/drawingml/2006/chart">
            <c:chart xmlns:c="http://schemas.openxmlformats.org/drawingml/2006/chart" r:id="rId1"/>
          </a:graphicData>
        </a:graphic>
      </p:graphicFrame>
      <p:pic>
        <p:nvPicPr>
          <p:cNvPr id="5" name="Image 0" descr="preencoded.png">    </p:cNvPr>
          <p:cNvPicPr>
            <a:picLocks noChangeAspect="1"/>
          </p:cNvPicPr>
          <p:nvPr/>
        </p:nvPicPr>
        <p:blipFill>
          <a:blip r:embed="rId2"/>
          <a:stretch>
            <a:fillRect/>
          </a:stretch>
        </p:blipFill>
        <p:spPr>
          <a:xfrm>
            <a:off x="5486400" y="1362456"/>
            <a:ext cx="274320" cy="274320"/>
          </a:xfrm>
          <a:prstGeom prst="rect">
            <a:avLst/>
          </a:prstGeom>
        </p:spPr>
      </p:pic>
      <p:sp>
        <p:nvSpPr>
          <p:cNvPr id="6" name="Text 2"/>
          <p:cNvSpPr txBox="1"/>
          <p:nvPr/>
        </p:nvSpPr>
        <p:spPr>
          <a:xfrm>
            <a:off x="5897880" y="1325880"/>
            <a:ext cx="2788920" cy="274320"/>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With the lock</a:t>
            </a:r>
            <a:endParaRPr lang="en-US" sz="1250" dirty="0"/>
          </a:p>
        </p:txBody>
      </p:sp>
      <p:sp>
        <p:nvSpPr>
          <p:cNvPr id="7" name="Text 3"/>
          <p:cNvSpPr txBox="1"/>
          <p:nvPr/>
        </p:nvSpPr>
        <p:spPr>
          <a:xfrm>
            <a:off x="5897880" y="1600200"/>
            <a:ext cx="2788920" cy="530352"/>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10 succeed, balance ₦0, ledger sum = balance — identical over 3 runs (~250 ms on an M1)</a:t>
            </a:r>
            <a:endParaRPr lang="en-US" sz="1050" dirty="0"/>
          </a:p>
        </p:txBody>
      </p:sp>
      <p:pic>
        <p:nvPicPr>
          <p:cNvPr id="8" name="Image 1" descr="preencoded.png">    </p:cNvPr>
          <p:cNvPicPr>
            <a:picLocks noChangeAspect="1"/>
          </p:cNvPicPr>
          <p:nvPr/>
        </p:nvPicPr>
        <p:blipFill>
          <a:blip r:embed="rId3"/>
          <a:stretch>
            <a:fillRect/>
          </a:stretch>
        </p:blipFill>
        <p:spPr>
          <a:xfrm>
            <a:off x="5486400" y="2203704"/>
            <a:ext cx="274320" cy="274320"/>
          </a:xfrm>
          <a:prstGeom prst="rect">
            <a:avLst/>
          </a:prstGeom>
        </p:spPr>
      </p:pic>
      <p:sp>
        <p:nvSpPr>
          <p:cNvPr id="9" name="Text 4"/>
          <p:cNvSpPr txBox="1"/>
          <p:nvPr/>
        </p:nvSpPr>
        <p:spPr>
          <a:xfrm>
            <a:off x="5897880" y="2167128"/>
            <a:ext cx="2788920" cy="274320"/>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Lock removed</a:t>
            </a:r>
            <a:endParaRPr lang="en-US" sz="1250" dirty="0"/>
          </a:p>
        </p:txBody>
      </p:sp>
      <p:sp>
        <p:nvSpPr>
          <p:cNvPr id="10" name="Text 5"/>
          <p:cNvSpPr txBox="1"/>
          <p:nvPr/>
        </p:nvSpPr>
        <p:spPr>
          <a:xfrm>
            <a:off x="5897880" y="2441448"/>
            <a:ext cx="2788920" cy="530352"/>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199 "succeed" from ₦1,000 (lost updates); daily-limit test lets 40/40 through</a:t>
            </a:r>
            <a:endParaRPr lang="en-US" sz="1050" dirty="0"/>
          </a:p>
        </p:txBody>
      </p:sp>
      <p:pic>
        <p:nvPicPr>
          <p:cNvPr id="11" name="Image 2" descr="preencoded.png">    </p:cNvPr>
          <p:cNvPicPr>
            <a:picLocks noChangeAspect="1"/>
          </p:cNvPicPr>
          <p:nvPr/>
        </p:nvPicPr>
        <p:blipFill>
          <a:blip r:embed="rId4"/>
          <a:stretch>
            <a:fillRect/>
          </a:stretch>
        </p:blipFill>
        <p:spPr>
          <a:xfrm>
            <a:off x="5486400" y="3044952"/>
            <a:ext cx="274320" cy="274320"/>
          </a:xfrm>
          <a:prstGeom prst="rect">
            <a:avLst/>
          </a:prstGeom>
        </p:spPr>
      </p:pic>
      <p:sp>
        <p:nvSpPr>
          <p:cNvPr id="12" name="Text 6"/>
          <p:cNvSpPr txBox="1"/>
          <p:nvPr/>
        </p:nvSpPr>
        <p:spPr>
          <a:xfrm>
            <a:off x="5897880" y="3008376"/>
            <a:ext cx="2788920" cy="274320"/>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Lock order removed</a:t>
            </a:r>
            <a:endParaRPr lang="en-US" sz="1250" dirty="0"/>
          </a:p>
        </p:txBody>
      </p:sp>
      <p:sp>
        <p:nvSpPr>
          <p:cNvPr id="13" name="Text 7"/>
          <p:cNvSpPr txBox="1"/>
          <p:nvPr/>
        </p:nvSpPr>
        <p:spPr>
          <a:xfrm>
            <a:off x="5897880" y="3282696"/>
            <a:ext cx="2788920" cy="530352"/>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PostgreSQL 40P01 deadlock detected in the A⇄B test</a:t>
            </a:r>
            <a:endParaRPr lang="en-US" sz="1050" dirty="0"/>
          </a:p>
        </p:txBody>
      </p:sp>
      <p:pic>
        <p:nvPicPr>
          <p:cNvPr id="14" name="Image 3" descr="preencoded.png">    </p:cNvPr>
          <p:cNvPicPr>
            <a:picLocks noChangeAspect="1"/>
          </p:cNvPicPr>
          <p:nvPr/>
        </p:nvPicPr>
        <p:blipFill>
          <a:blip r:embed="rId5"/>
          <a:stretch>
            <a:fillRect/>
          </a:stretch>
        </p:blipFill>
        <p:spPr>
          <a:xfrm>
            <a:off x="5486400" y="3886200"/>
            <a:ext cx="274320" cy="274320"/>
          </a:xfrm>
          <a:prstGeom prst="rect">
            <a:avLst/>
          </a:prstGeom>
        </p:spPr>
      </p:pic>
      <p:sp>
        <p:nvSpPr>
          <p:cNvPr id="15" name="Text 8"/>
          <p:cNvSpPr txBox="1"/>
          <p:nvPr/>
        </p:nvSpPr>
        <p:spPr>
          <a:xfrm>
            <a:off x="5897880" y="3849624"/>
            <a:ext cx="2788920" cy="274320"/>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Also under load</a:t>
            </a:r>
            <a:endParaRPr lang="en-US" sz="1250" dirty="0"/>
          </a:p>
        </p:txBody>
      </p:sp>
      <p:sp>
        <p:nvSpPr>
          <p:cNvPr id="16" name="Text 9"/>
          <p:cNvSpPr txBox="1"/>
          <p:nvPr/>
        </p:nvSpPr>
        <p:spPr>
          <a:xfrm>
            <a:off x="5897880" y="4123944"/>
            <a:ext cx="2788920" cy="530352"/>
          </a:xfrm>
          <a:prstGeom prst="rect">
            <a:avLst/>
          </a:prstGeom>
          <a:noFill/>
          <a:ln/>
        </p:spPr>
        <p:txBody>
          <a:bodyPr wrap="square" lIns="0" tIns="0" rIns="0" bIns="0" rtlCol="0" anchor="t"/>
          <a:lstStyle/>
          <a:p>
            <a:pPr indent="0" marL="0">
              <a:buNone/>
            </a:pPr>
            <a:r>
              <a:rPr lang="en-US" sz="1050" dirty="0">
                <a:solidFill>
                  <a:srgbClr val="5B6675"/>
                </a:solidFill>
                <a:latin typeface="Calibri" pitchFamily="34" charset="0"/>
                <a:ea typeface="Calibri" pitchFamily="34" charset="-122"/>
                <a:cs typeface="Calibri" pitchFamily="34" charset="-120"/>
              </a:rPr>
              <a:t>200 opposing transfers conserve money; 20 senders → 1 wallet all land</a:t>
            </a:r>
            <a:endParaRPr lang="en-US" sz="1050" dirty="0"/>
          </a:p>
        </p:txBody>
      </p:sp>
      <p:sp>
        <p:nvSpPr>
          <p:cNvPr id="17" name="Text 10"/>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18" name="Text 11"/>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AI FLUENCY &amp; JUDGEMENT</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AI wrote fast; checks caught its mistakes</a:t>
            </a:r>
            <a:endParaRPr lang="en-US" sz="2400" dirty="0"/>
          </a:p>
        </p:txBody>
      </p:sp>
      <p:sp>
        <p:nvSpPr>
          <p:cNvPr id="4" name="Shape 2"/>
          <p:cNvSpPr/>
          <p:nvPr/>
        </p:nvSpPr>
        <p:spPr>
          <a:xfrm>
            <a:off x="457200" y="1325880"/>
            <a:ext cx="2468880" cy="3291840"/>
          </a:xfrm>
          <a:prstGeom prst="roundRect">
            <a:avLst>
              <a:gd name="adj" fmla="val 2963"/>
            </a:avLst>
          </a:prstGeom>
          <a:solidFill>
            <a:srgbClr val="0B1F3A"/>
          </a:solidFill>
          <a:ln w="12700">
            <a:solidFill>
              <a:srgbClr val="0B1F3A"/>
            </a:solidFill>
            <a:prstDash val="solid"/>
          </a:ln>
        </p:spPr>
      </p:sp>
      <p:sp>
        <p:nvSpPr>
          <p:cNvPr id="5" name="Shape 3"/>
          <p:cNvSpPr/>
          <p:nvPr/>
        </p:nvSpPr>
        <p:spPr>
          <a:xfrm>
            <a:off x="640080" y="1463040"/>
            <a:ext cx="502920" cy="502920"/>
          </a:xfrm>
          <a:prstGeom prst="ellipse">
            <a:avLst/>
          </a:prstGeom>
          <a:solidFill>
            <a:srgbClr val="D4A63A"/>
          </a:solidFill>
          <a:ln w="12700">
            <a:solidFill>
              <a:srgbClr val="D4A63A"/>
            </a:solidFill>
            <a:prstDash val="solid"/>
          </a:ln>
        </p:spPr>
      </p:sp>
      <p:pic>
        <p:nvPicPr>
          <p:cNvPr id="6" name="Image 0" descr="preencoded.png">    </p:cNvPr>
          <p:cNvPicPr>
            <a:picLocks noChangeAspect="1"/>
          </p:cNvPicPr>
          <p:nvPr/>
        </p:nvPicPr>
        <p:blipFill>
          <a:blip r:embed="rId1"/>
          <a:stretch>
            <a:fillRect/>
          </a:stretch>
        </p:blipFill>
        <p:spPr>
          <a:xfrm>
            <a:off x="770839" y="1593799"/>
            <a:ext cx="241402" cy="241402"/>
          </a:xfrm>
          <a:prstGeom prst="rect">
            <a:avLst/>
          </a:prstGeom>
        </p:spPr>
      </p:pic>
      <p:sp>
        <p:nvSpPr>
          <p:cNvPr id="7" name="Text 4"/>
          <p:cNvSpPr txBox="1"/>
          <p:nvPr/>
        </p:nvSpPr>
        <p:spPr>
          <a:xfrm>
            <a:off x="640080" y="210312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How I used it</a:t>
            </a:r>
            <a:endParaRPr lang="en-US" sz="1400" dirty="0"/>
          </a:p>
        </p:txBody>
      </p:sp>
      <p:sp>
        <p:nvSpPr>
          <p:cNvPr id="8" name="Shape 5"/>
          <p:cNvSpPr/>
          <p:nvPr/>
        </p:nvSpPr>
        <p:spPr>
          <a:xfrm>
            <a:off x="640080" y="2523490"/>
            <a:ext cx="64008" cy="64008"/>
          </a:xfrm>
          <a:prstGeom prst="ellipse">
            <a:avLst/>
          </a:prstGeom>
          <a:solidFill>
            <a:srgbClr val="D4A63A"/>
          </a:solidFill>
          <a:ln w="12700">
            <a:solidFill>
              <a:srgbClr val="D4A63A"/>
            </a:solidFill>
            <a:prstDash val="solid"/>
          </a:ln>
        </p:spPr>
      </p:sp>
      <p:sp>
        <p:nvSpPr>
          <p:cNvPr id="9" name="Text 6"/>
          <p:cNvSpPr txBox="1"/>
          <p:nvPr/>
        </p:nvSpPr>
        <p:spPr>
          <a:xfrm>
            <a:off x="822960" y="2468880"/>
            <a:ext cx="1965960" cy="34086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Plan first, approved before code</a:t>
            </a:r>
            <a:endParaRPr lang="en-US" sz="1100" dirty="0"/>
          </a:p>
        </p:txBody>
      </p:sp>
      <p:sp>
        <p:nvSpPr>
          <p:cNvPr id="10" name="Shape 7"/>
          <p:cNvSpPr/>
          <p:nvPr/>
        </p:nvSpPr>
        <p:spPr>
          <a:xfrm>
            <a:off x="640080" y="2974086"/>
            <a:ext cx="64008" cy="64008"/>
          </a:xfrm>
          <a:prstGeom prst="ellipse">
            <a:avLst/>
          </a:prstGeom>
          <a:solidFill>
            <a:srgbClr val="D4A63A"/>
          </a:solidFill>
          <a:ln w="12700">
            <a:solidFill>
              <a:srgbClr val="D4A63A"/>
            </a:solidFill>
            <a:prstDash val="solid"/>
          </a:ln>
        </p:spPr>
      </p:sp>
      <p:sp>
        <p:nvSpPr>
          <p:cNvPr id="11" name="Text 8"/>
          <p:cNvSpPr txBox="1"/>
          <p:nvPr/>
        </p:nvSpPr>
        <p:spPr>
          <a:xfrm>
            <a:off x="822960" y="2919476"/>
            <a:ext cx="1965960" cy="34086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Boilerplate: EF mappings, Swagger, Docker, CI</a:t>
            </a:r>
            <a:endParaRPr lang="en-US" sz="1100" dirty="0"/>
          </a:p>
        </p:txBody>
      </p:sp>
      <p:sp>
        <p:nvSpPr>
          <p:cNvPr id="12" name="Shape 9"/>
          <p:cNvSpPr/>
          <p:nvPr/>
        </p:nvSpPr>
        <p:spPr>
          <a:xfrm>
            <a:off x="640080" y="3424682"/>
            <a:ext cx="64008" cy="64008"/>
          </a:xfrm>
          <a:prstGeom prst="ellipse">
            <a:avLst/>
          </a:prstGeom>
          <a:solidFill>
            <a:srgbClr val="D4A63A"/>
          </a:solidFill>
          <a:ln w="12700">
            <a:solidFill>
              <a:srgbClr val="D4A63A"/>
            </a:solidFill>
            <a:prstDash val="solid"/>
          </a:ln>
        </p:spPr>
      </p:sp>
      <p:sp>
        <p:nvSpPr>
          <p:cNvPr id="13" name="Text 10"/>
          <p:cNvSpPr txBox="1"/>
          <p:nvPr/>
        </p:nvSpPr>
        <p:spPr>
          <a:xfrm>
            <a:off x="822960" y="3370072"/>
            <a:ext cx="1965960" cy="170434"/>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Broad first test list</a:t>
            </a:r>
            <a:endParaRPr lang="en-US" sz="1100" dirty="0"/>
          </a:p>
        </p:txBody>
      </p:sp>
      <p:sp>
        <p:nvSpPr>
          <p:cNvPr id="14" name="Shape 11"/>
          <p:cNvSpPr/>
          <p:nvPr/>
        </p:nvSpPr>
        <p:spPr>
          <a:xfrm>
            <a:off x="640080" y="3704844"/>
            <a:ext cx="64008" cy="64008"/>
          </a:xfrm>
          <a:prstGeom prst="ellipse">
            <a:avLst/>
          </a:prstGeom>
          <a:solidFill>
            <a:srgbClr val="D4A63A"/>
          </a:solidFill>
          <a:ln w="12700">
            <a:solidFill>
              <a:srgbClr val="D4A63A"/>
            </a:solidFill>
            <a:prstDash val="solid"/>
          </a:ln>
        </p:spPr>
      </p:sp>
      <p:sp>
        <p:nvSpPr>
          <p:cNvPr id="15" name="Text 12"/>
          <p:cNvSpPr txBox="1"/>
          <p:nvPr/>
        </p:nvSpPr>
        <p:spPr>
          <a:xfrm>
            <a:off x="822960" y="3650234"/>
            <a:ext cx="1965960" cy="34086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Nothing accepted without a test or a log to prove it</a:t>
            </a:r>
            <a:endParaRPr lang="en-US" sz="1100" dirty="0"/>
          </a:p>
        </p:txBody>
      </p:sp>
      <p:sp>
        <p:nvSpPr>
          <p:cNvPr id="16" name="Shape 13"/>
          <p:cNvSpPr/>
          <p:nvPr/>
        </p:nvSpPr>
        <p:spPr>
          <a:xfrm>
            <a:off x="3154680" y="1325880"/>
            <a:ext cx="5532120" cy="987552"/>
          </a:xfrm>
          <a:prstGeom prst="roundRect">
            <a:avLst>
              <a:gd name="adj" fmla="val 7407"/>
            </a:avLst>
          </a:prstGeom>
          <a:solidFill>
            <a:srgbClr val="F3F5F9"/>
          </a:solidFill>
          <a:ln w="12700">
            <a:solidFill>
              <a:srgbClr val="F3F5F9"/>
            </a:solidFill>
            <a:prstDash val="solid"/>
          </a:ln>
        </p:spPr>
      </p:sp>
      <p:sp>
        <p:nvSpPr>
          <p:cNvPr id="17" name="Shape 14"/>
          <p:cNvSpPr/>
          <p:nvPr/>
        </p:nvSpPr>
        <p:spPr>
          <a:xfrm>
            <a:off x="3291840" y="1527048"/>
            <a:ext cx="457200" cy="457200"/>
          </a:xfrm>
          <a:prstGeom prst="ellipse">
            <a:avLst/>
          </a:prstGeom>
          <a:solidFill>
            <a:srgbClr val="B83A2E"/>
          </a:solidFill>
          <a:ln w="12700">
            <a:solidFill>
              <a:srgbClr val="B83A2E"/>
            </a:solidFill>
            <a:prstDash val="solid"/>
          </a:ln>
        </p:spPr>
      </p:sp>
      <p:pic>
        <p:nvPicPr>
          <p:cNvPr id="18" name="Image 1" descr="preencoded.png">    </p:cNvPr>
          <p:cNvPicPr>
            <a:picLocks noChangeAspect="1"/>
          </p:cNvPicPr>
          <p:nvPr/>
        </p:nvPicPr>
        <p:blipFill>
          <a:blip r:embed="rId2"/>
          <a:stretch>
            <a:fillRect/>
          </a:stretch>
        </p:blipFill>
        <p:spPr>
          <a:xfrm>
            <a:off x="3410712" y="1645920"/>
            <a:ext cx="219456" cy="219456"/>
          </a:xfrm>
          <a:prstGeom prst="rect">
            <a:avLst/>
          </a:prstGeom>
        </p:spPr>
      </p:pic>
      <p:sp>
        <p:nvSpPr>
          <p:cNvPr id="19" name="Text 15"/>
          <p:cNvSpPr txBox="1"/>
          <p:nvPr/>
        </p:nvSpPr>
        <p:spPr>
          <a:xfrm>
            <a:off x="3931920" y="1417320"/>
            <a:ext cx="4663440" cy="274320"/>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Errors stopped being Problem Details</a:t>
            </a:r>
            <a:endParaRPr lang="en-US" sz="1250" dirty="0"/>
          </a:p>
        </p:txBody>
      </p:sp>
      <p:sp>
        <p:nvSpPr>
          <p:cNvPr id="20" name="Text 16"/>
          <p:cNvSpPr txBox="1"/>
          <p:nvPr/>
        </p:nvSpPr>
        <p:spPr>
          <a:xfrm>
            <a:off x="3931920" y="1709928"/>
            <a:ext cx="4663440" cy="566928"/>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[Produces("application/json")] overrode 400 responses. Caught by a media-type assertion (5 of 7 cases failed). Removed.</a:t>
            </a:r>
            <a:endParaRPr lang="en-US" sz="1050" dirty="0"/>
          </a:p>
        </p:txBody>
      </p:sp>
      <p:sp>
        <p:nvSpPr>
          <p:cNvPr id="21" name="Shape 17"/>
          <p:cNvSpPr/>
          <p:nvPr/>
        </p:nvSpPr>
        <p:spPr>
          <a:xfrm>
            <a:off x="3154680" y="2441448"/>
            <a:ext cx="5532120" cy="987552"/>
          </a:xfrm>
          <a:prstGeom prst="roundRect">
            <a:avLst>
              <a:gd name="adj" fmla="val 7407"/>
            </a:avLst>
          </a:prstGeom>
          <a:solidFill>
            <a:srgbClr val="F3F5F9"/>
          </a:solidFill>
          <a:ln w="12700">
            <a:solidFill>
              <a:srgbClr val="F3F5F9"/>
            </a:solidFill>
            <a:prstDash val="solid"/>
          </a:ln>
        </p:spPr>
      </p:sp>
      <p:sp>
        <p:nvSpPr>
          <p:cNvPr id="22" name="Shape 18"/>
          <p:cNvSpPr/>
          <p:nvPr/>
        </p:nvSpPr>
        <p:spPr>
          <a:xfrm>
            <a:off x="3291840" y="2642616"/>
            <a:ext cx="457200" cy="457200"/>
          </a:xfrm>
          <a:prstGeom prst="ellipse">
            <a:avLst/>
          </a:prstGeom>
          <a:solidFill>
            <a:srgbClr val="B83A2E"/>
          </a:solidFill>
          <a:ln w="12700">
            <a:solidFill>
              <a:srgbClr val="B83A2E"/>
            </a:solidFill>
            <a:prstDash val="solid"/>
          </a:ln>
        </p:spPr>
      </p:sp>
      <p:pic>
        <p:nvPicPr>
          <p:cNvPr id="23" name="Image 2" descr="preencoded.png">    </p:cNvPr>
          <p:cNvPicPr>
            <a:picLocks noChangeAspect="1"/>
          </p:cNvPicPr>
          <p:nvPr/>
        </p:nvPicPr>
        <p:blipFill>
          <a:blip r:embed="rId3"/>
          <a:stretch>
            <a:fillRect/>
          </a:stretch>
        </p:blipFill>
        <p:spPr>
          <a:xfrm>
            <a:off x="3410712" y="2761488"/>
            <a:ext cx="219456" cy="219456"/>
          </a:xfrm>
          <a:prstGeom prst="rect">
            <a:avLst/>
          </a:prstGeom>
        </p:spPr>
      </p:pic>
      <p:sp>
        <p:nvSpPr>
          <p:cNvPr id="24" name="Text 19"/>
          <p:cNvSpPr txBox="1"/>
          <p:nvPr/>
        </p:nvSpPr>
        <p:spPr>
          <a:xfrm>
            <a:off x="3931920" y="2532888"/>
            <a:ext cx="4663440" cy="274320"/>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Every declined transfer logged as an ERROR</a:t>
            </a:r>
            <a:endParaRPr lang="en-US" sz="1250" dirty="0"/>
          </a:p>
        </p:txBody>
      </p:sp>
      <p:sp>
        <p:nvSpPr>
          <p:cNvPr id="25" name="Text 20"/>
          <p:cNvSpPr txBox="1"/>
          <p:nvPr/>
        </p:nvSpPr>
        <p:spPr>
          <a:xfrm>
            <a:off x="3931920" y="2825496"/>
            <a:ext cx="4663440" cy="566928"/>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.NET 8 exception middleware logs all exceptions at Error — alert fatigue in a bank. Caught reading logs; fixed with an MVC filter → 0 error lines.</a:t>
            </a:r>
            <a:endParaRPr lang="en-US" sz="1050" dirty="0"/>
          </a:p>
        </p:txBody>
      </p:sp>
      <p:sp>
        <p:nvSpPr>
          <p:cNvPr id="26" name="Shape 21"/>
          <p:cNvSpPr/>
          <p:nvPr/>
        </p:nvSpPr>
        <p:spPr>
          <a:xfrm>
            <a:off x="3154680" y="3557016"/>
            <a:ext cx="5532120" cy="987552"/>
          </a:xfrm>
          <a:prstGeom prst="roundRect">
            <a:avLst>
              <a:gd name="adj" fmla="val 7407"/>
            </a:avLst>
          </a:prstGeom>
          <a:solidFill>
            <a:srgbClr val="F3F5F9"/>
          </a:solidFill>
          <a:ln w="12700">
            <a:solidFill>
              <a:srgbClr val="F3F5F9"/>
            </a:solidFill>
            <a:prstDash val="solid"/>
          </a:ln>
        </p:spPr>
      </p:sp>
      <p:sp>
        <p:nvSpPr>
          <p:cNvPr id="27" name="Shape 22"/>
          <p:cNvSpPr/>
          <p:nvPr/>
        </p:nvSpPr>
        <p:spPr>
          <a:xfrm>
            <a:off x="3291840" y="3758184"/>
            <a:ext cx="457200" cy="457200"/>
          </a:xfrm>
          <a:prstGeom prst="ellipse">
            <a:avLst/>
          </a:prstGeom>
          <a:solidFill>
            <a:srgbClr val="B83A2E"/>
          </a:solidFill>
          <a:ln w="12700">
            <a:solidFill>
              <a:srgbClr val="B83A2E"/>
            </a:solidFill>
            <a:prstDash val="solid"/>
          </a:ln>
        </p:spPr>
      </p:sp>
      <p:pic>
        <p:nvPicPr>
          <p:cNvPr id="28" name="Image 3" descr="preencoded.png">    </p:cNvPr>
          <p:cNvPicPr>
            <a:picLocks noChangeAspect="1"/>
          </p:cNvPicPr>
          <p:nvPr/>
        </p:nvPicPr>
        <p:blipFill>
          <a:blip r:embed="rId4"/>
          <a:stretch>
            <a:fillRect/>
          </a:stretch>
        </p:blipFill>
        <p:spPr>
          <a:xfrm>
            <a:off x="3410712" y="3877056"/>
            <a:ext cx="219456" cy="219456"/>
          </a:xfrm>
          <a:prstGeom prst="rect">
            <a:avLst/>
          </a:prstGeom>
        </p:spPr>
      </p:pic>
      <p:sp>
        <p:nvSpPr>
          <p:cNvPr id="29" name="Text 23"/>
          <p:cNvSpPr txBox="1"/>
          <p:nvPr/>
        </p:nvSpPr>
        <p:spPr>
          <a:xfrm>
            <a:off x="3931920" y="3648456"/>
            <a:ext cx="4663440" cy="274320"/>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Tests that checked the wrong rule</a:t>
            </a:r>
            <a:endParaRPr lang="en-US" sz="1250" dirty="0"/>
          </a:p>
        </p:txBody>
      </p:sp>
      <p:sp>
        <p:nvSpPr>
          <p:cNvPr id="30" name="Text 24"/>
          <p:cNvSpPr txBox="1"/>
          <p:nvPr/>
        </p:nvSpPr>
        <p:spPr>
          <a:xfrm>
            <a:off x="3931920" y="3941064"/>
            <a:ext cx="4663440" cy="566928"/>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"Insufficient funds" tests used amounts above the daily limit, so the limit fired first. Rewritten to overdraw by exactly 1 kobo.</a:t>
            </a:r>
            <a:endParaRPr lang="en-US" sz="1050" dirty="0"/>
          </a:p>
        </p:txBody>
      </p:sp>
      <p:sp>
        <p:nvSpPr>
          <p:cNvPr id="31" name="Text 25"/>
          <p:cNvSpPr txBox="1"/>
          <p:nvPr/>
        </p:nvSpPr>
        <p:spPr>
          <a:xfrm>
            <a:off x="457200" y="4828032"/>
            <a:ext cx="5486400" cy="182880"/>
          </a:xfrm>
          <a:prstGeom prst="rect">
            <a:avLst/>
          </a:prstGeom>
          <a:noFill/>
          <a:ln/>
        </p:spPr>
        <p:txBody>
          <a:bodyPr wrap="square" lIns="0" tIns="0" rIns="0" bIns="0" rtlCol="0" anchor="t"/>
          <a:lstStyle/>
          <a:p>
            <a:pPr indent="0" marL="0">
              <a:buNone/>
            </a:pPr>
            <a:r>
              <a:rPr lang="en-US" sz="800" dirty="0">
                <a:solidFill>
                  <a:srgbClr val="5B6675"/>
                </a:solidFill>
                <a:latin typeface="Calibri" pitchFamily="34" charset="0"/>
                <a:ea typeface="Calibri" pitchFamily="34" charset="-122"/>
                <a:cs typeface="Calibri" pitchFamily="34" charset="-120"/>
              </a:rPr>
              <a:t>NovaWallet Ledger Service  ·  Ikenna Odoh</a:t>
            </a:r>
            <a:endParaRPr lang="en-US" sz="800" dirty="0"/>
          </a:p>
        </p:txBody>
      </p:sp>
      <p:sp>
        <p:nvSpPr>
          <p:cNvPr id="32" name="Text 26"/>
          <p:cNvSpPr txBox="1"/>
          <p:nvPr/>
        </p:nvSpPr>
        <p:spPr>
          <a:xfrm>
            <a:off x="7772400" y="4828032"/>
            <a:ext cx="914400" cy="182880"/>
          </a:xfrm>
          <a:prstGeom prst="rect">
            <a:avLst/>
          </a:prstGeom>
          <a:noFill/>
          <a:ln/>
        </p:spPr>
        <p:txBody>
          <a:bodyPr wrap="square" lIns="0" tIns="0" rIns="0" bIns="0" rtlCol="0" anchor="t"/>
          <a:lstStyle/>
          <a:p>
            <a:pPr algn="r" indent="0" marL="0">
              <a:buNone/>
            </a:pPr>
            <a:r>
              <a:rPr lang="en-US" sz="800" dirty="0">
                <a:solidFill>
                  <a:srgbClr val="5B6675"/>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t"/>
          <a:lstStyle/>
          <a:p>
            <a:pPr indent="0" marL="0">
              <a:buNone/>
            </a:pPr>
            <a:r>
              <a:rPr lang="en-US" sz="1000" b="1" spc="200" kern="0" dirty="0">
                <a:solidFill>
                  <a:srgbClr val="D4A63A"/>
                </a:solidFill>
                <a:latin typeface="Calibri" pitchFamily="34" charset="0"/>
                <a:ea typeface="Calibri" pitchFamily="34" charset="-122"/>
                <a:cs typeface="Calibri" pitchFamily="34" charset="-120"/>
              </a:rPr>
              <a:t>TRADE-OFFS &amp; NEXT STEPS</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I'd do with another sprint</a:t>
            </a:r>
            <a:endParaRPr lang="en-US" sz="2600" dirty="0"/>
          </a:p>
        </p:txBody>
      </p:sp>
      <p:sp>
        <p:nvSpPr>
          <p:cNvPr id="4" name="Text 2"/>
          <p:cNvSpPr txBox="1"/>
          <p:nvPr/>
        </p:nvSpPr>
        <p:spPr>
          <a:xfrm>
            <a:off x="457200" y="1325880"/>
            <a:ext cx="39319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Row locks over optimistic retries</a:t>
            </a:r>
            <a:endParaRPr lang="en-US" sz="1300" dirty="0"/>
          </a:p>
        </p:txBody>
      </p:sp>
      <p:sp>
        <p:nvSpPr>
          <p:cNvPr id="5" name="Text 3"/>
          <p:cNvSpPr txBox="1"/>
          <p:nvPr/>
        </p:nvSpPr>
        <p:spPr>
          <a:xfrm>
            <a:off x="457200" y="1600200"/>
            <a:ext cx="3931920" cy="2743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simple, provable; serialises a hot wallet's writes</a:t>
            </a:r>
            <a:endParaRPr lang="en-US" sz="1100" dirty="0"/>
          </a:p>
        </p:txBody>
      </p:sp>
      <p:sp>
        <p:nvSpPr>
          <p:cNvPr id="6" name="Text 4"/>
          <p:cNvSpPr txBox="1"/>
          <p:nvPr/>
        </p:nvSpPr>
        <p:spPr>
          <a:xfrm>
            <a:off x="457200" y="1984248"/>
            <a:ext cx="39319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Declines cached per key</a:t>
            </a:r>
            <a:endParaRPr lang="en-US" sz="1300" dirty="0"/>
          </a:p>
        </p:txBody>
      </p:sp>
      <p:sp>
        <p:nvSpPr>
          <p:cNvPr id="7" name="Text 5"/>
          <p:cNvSpPr txBox="1"/>
          <p:nvPr/>
        </p:nvSpPr>
        <p:spPr>
          <a:xfrm>
            <a:off x="457200" y="2258568"/>
            <a:ext cx="3931920" cy="2743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consistent replays; a top-up needs a new key</a:t>
            </a:r>
            <a:endParaRPr lang="en-US" sz="1100" dirty="0"/>
          </a:p>
        </p:txBody>
      </p:sp>
      <p:sp>
        <p:nvSpPr>
          <p:cNvPr id="8" name="Text 6"/>
          <p:cNvSpPr txBox="1"/>
          <p:nvPr/>
        </p:nvSpPr>
        <p:spPr>
          <a:xfrm>
            <a:off x="457200" y="2642616"/>
            <a:ext cx="39319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Migrate on startup</a:t>
            </a:r>
            <a:endParaRPr lang="en-US" sz="1300" dirty="0"/>
          </a:p>
        </p:txBody>
      </p:sp>
      <p:sp>
        <p:nvSpPr>
          <p:cNvPr id="9" name="Text 7"/>
          <p:cNvSpPr txBox="1"/>
          <p:nvPr/>
        </p:nvSpPr>
        <p:spPr>
          <a:xfrm>
            <a:off x="457200" y="2916936"/>
            <a:ext cx="3931920" cy="2743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one-command demo; production uses a pipeline job</a:t>
            </a:r>
            <a:endParaRPr lang="en-US" sz="1100" dirty="0"/>
          </a:p>
        </p:txBody>
      </p:sp>
      <p:sp>
        <p:nvSpPr>
          <p:cNvPr id="10" name="Text 8"/>
          <p:cNvSpPr txBox="1"/>
          <p:nvPr/>
        </p:nvSpPr>
        <p:spPr>
          <a:xfrm>
            <a:off x="457200" y="3300984"/>
            <a:ext cx="39319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Outbox is at-least-once</a:t>
            </a:r>
            <a:endParaRPr lang="en-US" sz="1300" dirty="0"/>
          </a:p>
        </p:txBody>
      </p:sp>
      <p:sp>
        <p:nvSpPr>
          <p:cNvPr id="11" name="Text 9"/>
          <p:cNvSpPr txBox="1"/>
          <p:nvPr/>
        </p:nvSpPr>
        <p:spPr>
          <a:xfrm>
            <a:off x="457200" y="3575304"/>
            <a:ext cx="3931920" cy="2743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consumers de-duplicate on eventId</a:t>
            </a:r>
            <a:endParaRPr lang="en-US" sz="1100" dirty="0"/>
          </a:p>
        </p:txBody>
      </p:sp>
      <p:sp>
        <p:nvSpPr>
          <p:cNvPr id="12" name="Shape 10"/>
          <p:cNvSpPr/>
          <p:nvPr/>
        </p:nvSpPr>
        <p:spPr>
          <a:xfrm>
            <a:off x="4754880" y="1325880"/>
            <a:ext cx="3931920" cy="2606040"/>
          </a:xfrm>
          <a:prstGeom prst="roundRect">
            <a:avLst>
              <a:gd name="adj" fmla="val 2807"/>
            </a:avLst>
          </a:prstGeom>
          <a:solidFill>
            <a:srgbClr val="163A63"/>
          </a:solidFill>
          <a:ln w="12700">
            <a:solidFill>
              <a:srgbClr val="163A63"/>
            </a:solidFill>
            <a:prstDash val="solid"/>
          </a:ln>
        </p:spPr>
      </p:sp>
      <p:sp>
        <p:nvSpPr>
          <p:cNvPr id="13" name="Shape 11"/>
          <p:cNvSpPr/>
          <p:nvPr/>
        </p:nvSpPr>
        <p:spPr>
          <a:xfrm>
            <a:off x="4937760" y="1525524"/>
            <a:ext cx="64008" cy="64008"/>
          </a:xfrm>
          <a:prstGeom prst="ellipse">
            <a:avLst/>
          </a:prstGeom>
          <a:solidFill>
            <a:srgbClr val="D4A63A"/>
          </a:solidFill>
          <a:ln w="12700">
            <a:solidFill>
              <a:srgbClr val="D4A63A"/>
            </a:solidFill>
            <a:prstDash val="solid"/>
          </a:ln>
        </p:spPr>
      </p:sp>
      <p:sp>
        <p:nvSpPr>
          <p:cNvPr id="14" name="Text 12"/>
          <p:cNvSpPr txBox="1"/>
          <p:nvPr/>
        </p:nvSpPr>
        <p:spPr>
          <a:xfrm>
            <a:off x="5120640" y="1463040"/>
            <a:ext cx="3429000" cy="18592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KYC tier limit profiles (Tier 1/2/3)</a:t>
            </a:r>
            <a:endParaRPr lang="en-US" sz="1200" dirty="0"/>
          </a:p>
        </p:txBody>
      </p:sp>
      <p:sp>
        <p:nvSpPr>
          <p:cNvPr id="15" name="Shape 13"/>
          <p:cNvSpPr/>
          <p:nvPr/>
        </p:nvSpPr>
        <p:spPr>
          <a:xfrm>
            <a:off x="4937760" y="1821180"/>
            <a:ext cx="64008" cy="64008"/>
          </a:xfrm>
          <a:prstGeom prst="ellipse">
            <a:avLst/>
          </a:prstGeom>
          <a:solidFill>
            <a:srgbClr val="D4A63A"/>
          </a:solidFill>
          <a:ln w="12700">
            <a:solidFill>
              <a:srgbClr val="D4A63A"/>
            </a:solidFill>
            <a:prstDash val="solid"/>
          </a:ln>
        </p:spPr>
      </p:sp>
      <p:sp>
        <p:nvSpPr>
          <p:cNvPr id="16" name="Text 14"/>
          <p:cNvSpPr txBox="1"/>
          <p:nvPr/>
        </p:nvSpPr>
        <p:spPr>
          <a:xfrm>
            <a:off x="5120640" y="1758696"/>
            <a:ext cx="34290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Key-expiry + nightly reconciliation &amp; chain verification</a:t>
            </a:r>
            <a:endParaRPr lang="en-US" sz="1200" dirty="0"/>
          </a:p>
        </p:txBody>
      </p:sp>
      <p:sp>
        <p:nvSpPr>
          <p:cNvPr id="17" name="Shape 15"/>
          <p:cNvSpPr/>
          <p:nvPr/>
        </p:nvSpPr>
        <p:spPr>
          <a:xfrm>
            <a:off x="4937760" y="2302764"/>
            <a:ext cx="64008" cy="64008"/>
          </a:xfrm>
          <a:prstGeom prst="ellipse">
            <a:avLst/>
          </a:prstGeom>
          <a:solidFill>
            <a:srgbClr val="D4A63A"/>
          </a:solidFill>
          <a:ln w="12700">
            <a:solidFill>
              <a:srgbClr val="D4A63A"/>
            </a:solidFill>
            <a:prstDash val="solid"/>
          </a:ln>
        </p:spPr>
      </p:sp>
      <p:sp>
        <p:nvSpPr>
          <p:cNvPr id="18" name="Text 16"/>
          <p:cNvSpPr txBox="1"/>
          <p:nvPr/>
        </p:nvSpPr>
        <p:spPr>
          <a:xfrm>
            <a:off x="5120640" y="2240280"/>
            <a:ext cx="3429000" cy="18592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Reversals as compensating entries</a:t>
            </a:r>
            <a:endParaRPr lang="en-US" sz="1200" dirty="0"/>
          </a:p>
        </p:txBody>
      </p:sp>
      <p:sp>
        <p:nvSpPr>
          <p:cNvPr id="19" name="Shape 17"/>
          <p:cNvSpPr/>
          <p:nvPr/>
        </p:nvSpPr>
        <p:spPr>
          <a:xfrm>
            <a:off x="4937760" y="2598420"/>
            <a:ext cx="64008" cy="64008"/>
          </a:xfrm>
          <a:prstGeom prst="ellipse">
            <a:avLst/>
          </a:prstGeom>
          <a:solidFill>
            <a:srgbClr val="D4A63A"/>
          </a:solidFill>
          <a:ln w="12700">
            <a:solidFill>
              <a:srgbClr val="D4A63A"/>
            </a:solidFill>
            <a:prstDash val="solid"/>
          </a:ln>
        </p:spPr>
      </p:sp>
      <p:sp>
        <p:nvSpPr>
          <p:cNvPr id="20" name="Text 18"/>
          <p:cNvSpPr txBox="1"/>
          <p:nvPr/>
        </p:nvSpPr>
        <p:spPr>
          <a:xfrm>
            <a:off x="5120640" y="2535936"/>
            <a:ext cx="34290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Kafka/Service Bus, OpenTelemetry, least-privilege DB roles</a:t>
            </a:r>
            <a:endParaRPr lang="en-US" sz="1200" dirty="0"/>
          </a:p>
        </p:txBody>
      </p:sp>
      <p:sp>
        <p:nvSpPr>
          <p:cNvPr id="21" name="Shape 19"/>
          <p:cNvSpPr/>
          <p:nvPr/>
        </p:nvSpPr>
        <p:spPr>
          <a:xfrm>
            <a:off x="4937760" y="3080004"/>
            <a:ext cx="64008" cy="64008"/>
          </a:xfrm>
          <a:prstGeom prst="ellipse">
            <a:avLst/>
          </a:prstGeom>
          <a:solidFill>
            <a:srgbClr val="D4A63A"/>
          </a:solidFill>
          <a:ln w="12700">
            <a:solidFill>
              <a:srgbClr val="D4A63A"/>
            </a:solidFill>
            <a:prstDash val="solid"/>
          </a:ln>
        </p:spPr>
      </p:sp>
      <p:sp>
        <p:nvSpPr>
          <p:cNvPr id="22" name="Text 20"/>
          <p:cNvSpPr txBox="1"/>
          <p:nvPr/>
        </p:nvSpPr>
        <p:spPr>
          <a:xfrm>
            <a:off x="5120640" y="3017520"/>
            <a:ext cx="3429000" cy="3718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Asymmetric JWT via JWKS; mTLS to NIP settlement</a:t>
            </a:r>
            <a:endParaRPr lang="en-US" sz="1200" dirty="0"/>
          </a:p>
        </p:txBody>
      </p:sp>
      <p:sp>
        <p:nvSpPr>
          <p:cNvPr id="23" name="Shape 21"/>
          <p:cNvSpPr/>
          <p:nvPr/>
        </p:nvSpPr>
        <p:spPr>
          <a:xfrm>
            <a:off x="4754880" y="4069080"/>
            <a:ext cx="3931920" cy="640080"/>
          </a:xfrm>
          <a:prstGeom prst="roundRect">
            <a:avLst>
              <a:gd name="adj" fmla="val 11429"/>
            </a:avLst>
          </a:prstGeom>
          <a:solidFill>
            <a:srgbClr val="D4A63A"/>
          </a:solidFill>
          <a:ln w="12700">
            <a:solidFill>
              <a:srgbClr val="D4A63A"/>
            </a:solidFill>
            <a:prstDash val="solid"/>
          </a:ln>
        </p:spPr>
      </p:sp>
      <p:sp>
        <p:nvSpPr>
          <p:cNvPr id="24" name="Text 22"/>
          <p:cNvSpPr txBox="1"/>
          <p:nvPr/>
        </p:nvSpPr>
        <p:spPr>
          <a:xfrm>
            <a:off x="4937760" y="4069080"/>
            <a:ext cx="3657600" cy="640080"/>
          </a:xfrm>
          <a:prstGeom prst="rect">
            <a:avLst/>
          </a:prstGeom>
          <a:noFill/>
          <a:ln/>
        </p:spPr>
        <p:txBody>
          <a:bodyPr wrap="square" lIns="0" tIns="0" rIns="0" bIns="0" rtlCol="0" anchor="ctr"/>
          <a:lstStyle/>
          <a:p>
            <a:pPr indent="0" marL="0">
              <a:buNone/>
            </a:pPr>
            <a:r>
              <a:rPr lang="en-US" sz="900" b="1" spc="200" kern="0" dirty="0">
                <a:solidFill>
                  <a:srgbClr val="0B1F3A"/>
                </a:solidFill>
                <a:latin typeface="Calibri" pitchFamily="34" charset="0"/>
                <a:ea typeface="Calibri" pitchFamily="34" charset="-122"/>
                <a:cs typeface="Calibri" pitchFamily="34" charset="-120"/>
              </a:rPr>
              <a:t>LIVE DEMO</a:t>
            </a:r>
            <a:endParaRPr lang="en-US" sz="900" dirty="0"/>
          </a:p>
          <a:p>
            <a:pPr indent="0" marL="0">
              <a:buNone/>
            </a:pPr>
            <a:r>
              <a:rPr lang="en-US" sz="1050" dirty="0">
                <a:solidFill>
                  <a:srgbClr val="0B1F3A"/>
                </a:solidFill>
                <a:latin typeface="Courier New" pitchFamily="34" charset="0"/>
                <a:ea typeface="Courier New" pitchFamily="34" charset="-122"/>
                <a:cs typeface="Courier New" pitchFamily="34" charset="-120"/>
              </a:rPr>
              <a:t>docker compose up → /swagger → smoke-test.sh</a:t>
            </a:r>
            <a:endParaRPr lang="en-US" sz="900" dirty="0"/>
          </a:p>
        </p:txBody>
      </p:sp>
      <p:sp>
        <p:nvSpPr>
          <p:cNvPr id="25" name="Text 23"/>
          <p:cNvSpPr txBox="1"/>
          <p:nvPr/>
        </p:nvSpPr>
        <p:spPr>
          <a:xfrm>
            <a:off x="457200" y="4160520"/>
            <a:ext cx="4114800" cy="457200"/>
          </a:xfrm>
          <a:prstGeom prst="rect">
            <a:avLst/>
          </a:prstGeom>
          <a:noFill/>
          <a:ln/>
        </p:spPr>
        <p:txBody>
          <a:bodyPr wrap="square" lIns="0" tIns="0" rIns="0" bIns="0" rtlCol="0" anchor="ctr"/>
          <a:lstStyle/>
          <a:p>
            <a:pPr indent="0" marL="0">
              <a:buNone/>
            </a:pPr>
            <a:r>
              <a:rPr lang="en-US" sz="1400" i="1" dirty="0">
                <a:solidFill>
                  <a:srgbClr val="D4A63A"/>
                </a:solidFill>
                <a:latin typeface="Calibri" pitchFamily="34" charset="0"/>
                <a:ea typeface="Calibri" pitchFamily="34" charset="-122"/>
                <a:cs typeface="Calibri" pitchFamily="34" charset="-120"/>
              </a:rPr>
              <a:t>Thank you — questions, or shall we change some code?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NovaWallet Ledger Service — Ikenna Odoh</dc:title>
  <dc:subject>PptxGenJS Presentation</dc:subject>
  <dc:creator>Ikenna Odoh</dc:creator>
  <cp:lastModifiedBy>Ikenna Odoh</cp:lastModifiedBy>
  <cp:revision>1</cp:revision>
  <dcterms:created xsi:type="dcterms:W3CDTF">2026-09-16T17:56:13Z</dcterms:created>
  <dcterms:modified xsi:type="dcterms:W3CDTF">2026-09-16T17:56:13Z</dcterms:modified>
</cp:coreProperties>
</file>